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5" r:id="rId7"/>
    <p:sldId id="296" r:id="rId8"/>
    <p:sldId id="261" r:id="rId9"/>
    <p:sldId id="262" r:id="rId10"/>
    <p:sldId id="298" r:id="rId11"/>
    <p:sldId id="264" r:id="rId12"/>
    <p:sldId id="265" r:id="rId13"/>
    <p:sldId id="266" r:id="rId14"/>
    <p:sldId id="267" r:id="rId15"/>
    <p:sldId id="297" r:id="rId16"/>
    <p:sldId id="268" r:id="rId17"/>
    <p:sldId id="269" r:id="rId18"/>
    <p:sldId id="270" r:id="rId19"/>
    <p:sldId id="299" r:id="rId20"/>
    <p:sldId id="30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06" autoAdjust="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Servlets in Java – Full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explanation with architecture, lifecycle, and example programs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Servlet?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Servlet is a Java program that runs on a web server and handles client requests and responses to generate dynamic web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Servlet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servlet containers include Apache Tomcat, Jetty, and GlassFish.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Servlets are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client requests</a:t>
            </a:r>
          </a:p>
          <a:p>
            <a:r>
              <a:t>Generate dynamic web pages</a:t>
            </a:r>
          </a:p>
          <a:p>
            <a:r>
              <a:t>Connect Java with web technologies</a:t>
            </a:r>
          </a:p>
          <a:p>
            <a:r>
              <a:t>Interact with databases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Servlet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Browser → Web Server → Servlet Container → Servlet → Response to Client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24348-7982-4048-8915-7624B0819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1026" name="Picture 2" descr="https://ik.imagekit.io/upgrad1/abroad-images/imageCompo/images/ChatGPT_Image_May_20_2025_04_59_24_PM_CopyLAVWPG.png">
            <a:extLst>
              <a:ext uri="{FF2B5EF4-FFF2-40B4-BE49-F238E27FC236}">
                <a16:creationId xmlns:a16="http://schemas.microsoft.com/office/drawing/2014/main" id="{682FCB46-CFE8-499D-B739-0729CF526E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278" y="0"/>
            <a:ext cx="8658224" cy="658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766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7CF91-4681-47DD-8E8A-19E80207A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2050" name="Picture 2" descr="https://miro.medium.com/1%2ACyyy59ISyWUq5jkt9GvZrA.png">
            <a:extLst>
              <a:ext uri="{FF2B5EF4-FFF2-40B4-BE49-F238E27FC236}">
                <a16:creationId xmlns:a16="http://schemas.microsoft.com/office/drawing/2014/main" id="{FA88DDDF-ECA2-4C56-A7BC-528FAF7809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06045"/>
            <a:ext cx="8229600" cy="653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480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Servlet API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Servlets use packages from </a:t>
            </a:r>
            <a:r>
              <a:rPr lang="en-US" b="1" dirty="0"/>
              <a:t>Jakarta Servlet API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dirty="0"/>
              <a:t>jakarta.servlet.*</a:t>
            </a:r>
          </a:p>
          <a:p>
            <a:r>
              <a:rPr dirty="0"/>
              <a:t>jakarta.servlet.http.*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Servlet</a:t>
            </a:r>
          </a:p>
          <a:p>
            <a:r>
              <a:t>ServletRequest</a:t>
            </a:r>
          </a:p>
          <a:p>
            <a:r>
              <a:t>ServletResponse</a:t>
            </a:r>
          </a:p>
          <a:p>
            <a:r>
              <a:t>HttpServletRequest</a:t>
            </a:r>
          </a:p>
          <a:p>
            <a:r>
              <a:t>HttpServletResponse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85B1E-FA90-446E-8CE9-B1C0D7452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5760"/>
            <a:ext cx="8229600" cy="61118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Important Classes &amp; Interfaces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BDE564-5901-423A-A592-B54FDE6822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6247101"/>
              </p:ext>
            </p:extLst>
          </p:nvPr>
        </p:nvGraphicFramePr>
        <p:xfrm>
          <a:off x="457200" y="885825"/>
          <a:ext cx="8229600" cy="5723576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340374334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59143739"/>
                    </a:ext>
                  </a:extLst>
                </a:gridCol>
              </a:tblGrid>
              <a:tr h="715447">
                <a:tc>
                  <a:txBody>
                    <a:bodyPr/>
                    <a:lstStyle/>
                    <a:p>
                      <a:r>
                        <a:rPr lang="en-US" sz="240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4626773"/>
                  </a:ext>
                </a:extLst>
              </a:tr>
              <a:tr h="715447">
                <a:tc>
                  <a:txBody>
                    <a:bodyPr/>
                    <a:lstStyle/>
                    <a:p>
                      <a:r>
                        <a:rPr lang="en-US" sz="2400"/>
                        <a:t>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Servlet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8758843"/>
                  </a:ext>
                </a:extLst>
              </a:tr>
              <a:tr h="715447">
                <a:tc>
                  <a:txBody>
                    <a:bodyPr/>
                    <a:lstStyle/>
                    <a:p>
                      <a:r>
                        <a:rPr lang="en-US" sz="2400" dirty="0"/>
                        <a:t>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ServletRequest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803627"/>
                  </a:ext>
                </a:extLst>
              </a:tr>
              <a:tr h="715447">
                <a:tc>
                  <a:txBody>
                    <a:bodyPr/>
                    <a:lstStyle/>
                    <a:p>
                      <a:r>
                        <a:rPr lang="en-US" sz="2400" dirty="0"/>
                        <a:t>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ServletResponse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520480"/>
                  </a:ext>
                </a:extLst>
              </a:tr>
              <a:tr h="715447">
                <a:tc>
                  <a:txBody>
                    <a:bodyPr/>
                    <a:lstStyle/>
                    <a:p>
                      <a:r>
                        <a:rPr lang="en-US" sz="240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GenericServlet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87624"/>
                  </a:ext>
                </a:extLst>
              </a:tr>
              <a:tr h="715447">
                <a:tc>
                  <a:txBody>
                    <a:bodyPr/>
                    <a:lstStyle/>
                    <a:p>
                      <a:r>
                        <a:rPr lang="en-US" sz="240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HttpServlet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157894"/>
                  </a:ext>
                </a:extLst>
              </a:tr>
              <a:tr h="715447">
                <a:tc>
                  <a:txBody>
                    <a:bodyPr/>
                    <a:lstStyle/>
                    <a:p>
                      <a:r>
                        <a:rPr lang="en-US" sz="2400"/>
                        <a:t>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HttpServletRequest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720496"/>
                  </a:ext>
                </a:extLst>
              </a:tr>
              <a:tr h="715447">
                <a:tc>
                  <a:txBody>
                    <a:bodyPr/>
                    <a:lstStyle/>
                    <a:p>
                      <a:r>
                        <a:rPr lang="en-US" sz="2400" dirty="0"/>
                        <a:t>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HttpServletResponse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248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95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Servlets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Generic Servlet</a:t>
            </a:r>
          </a:p>
          <a:p>
            <a:r>
              <a:t>2. HTTP Servlet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Generic Servlet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Protocol independent</a:t>
            </a:r>
          </a:p>
          <a:p>
            <a:r>
              <a:t>Extends GenericServlet class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 Servlet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web applications</a:t>
            </a:r>
          </a:p>
          <a:p>
            <a:r>
              <a:t>Works with HTTP protocol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Servlet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init</a:t>
            </a:r>
            <a:r>
              <a:rPr dirty="0"/>
              <a:t>() → service() → destroy()</a:t>
            </a:r>
            <a:endParaRPr lang="en-US" dirty="0"/>
          </a:p>
          <a:p>
            <a:r>
              <a:rPr lang="en-US" dirty="0"/>
              <a:t>Servlet lifecycle is managed by the </a:t>
            </a:r>
            <a:r>
              <a:rPr lang="en-US" b="1" dirty="0"/>
              <a:t>Servlet Container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D08A9-2A55-421C-90C5-DB6A420B6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3074" name="Picture 2" descr="https://miro.medium.com/v2/resize%3Afit%3A1400/1%2ArTHqDn0lR2pgGLsJDkQ-NA.png">
            <a:extLst>
              <a:ext uri="{FF2B5EF4-FFF2-40B4-BE49-F238E27FC236}">
                <a16:creationId xmlns:a16="http://schemas.microsoft.com/office/drawing/2014/main" id="{1D353659-EFA2-485F-B590-5EFEAC1BB7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8587"/>
            <a:ext cx="7722739" cy="6206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621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Called once when servlet is loaded.</a:t>
            </a:r>
          </a:p>
          <a:p>
            <a:r>
              <a:t>Used for initialization tasks like database connection.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Handles every client request and generates response.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destroy()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Called when servlet is removed from memory.</a:t>
            </a:r>
          </a:p>
          <a:p>
            <a:r>
              <a:t>Used for cleanup tasks.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5698D-2266-4E6A-A636-2331017C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112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122" name="Picture 2" descr="https://www.tutorialspoint.com/servlets/images/servlet-lifecycle.jpg">
            <a:extLst>
              <a:ext uri="{FF2B5EF4-FFF2-40B4-BE49-F238E27FC236}">
                <a16:creationId xmlns:a16="http://schemas.microsoft.com/office/drawing/2014/main" id="{A6189860-C564-4DFF-B742-03E2B7B990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8906"/>
            <a:ext cx="8515350" cy="644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4577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0B26-8531-4919-AAB6-2E8E45A0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6146" name="Picture 2" descr="https://www.boardinfinity.com/blog/content/images/2023/05/Serlvet-life-cycle.png">
            <a:extLst>
              <a:ext uri="{FF2B5EF4-FFF2-40B4-BE49-F238E27FC236}">
                <a16:creationId xmlns:a16="http://schemas.microsoft.com/office/drawing/2014/main" id="{48BB93D7-18E6-411A-9103-404E1608F1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22" y="320357"/>
            <a:ext cx="8046156" cy="626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4949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Servlet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using HttpServlet to return HTML response.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HelloServlet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import java.io.*;</a:t>
            </a:r>
          </a:p>
          <a:p>
            <a:r>
              <a:rPr sz="2000" dirty="0"/>
              <a:t>import </a:t>
            </a:r>
            <a:r>
              <a:rPr sz="2000" dirty="0" err="1"/>
              <a:t>jakarta.servlet</a:t>
            </a:r>
            <a:r>
              <a:rPr sz="2000" dirty="0"/>
              <a:t>.*;</a:t>
            </a:r>
          </a:p>
          <a:p>
            <a:r>
              <a:rPr sz="2000" dirty="0"/>
              <a:t>import </a:t>
            </a:r>
            <a:r>
              <a:rPr sz="2000" dirty="0" err="1"/>
              <a:t>jakarta.servlet.http</a:t>
            </a:r>
            <a:r>
              <a:rPr sz="2000" dirty="0"/>
              <a:t>.*;</a:t>
            </a:r>
          </a:p>
          <a:p>
            <a:endParaRPr sz="2000" dirty="0"/>
          </a:p>
          <a:p>
            <a:r>
              <a:rPr sz="2000" dirty="0"/>
              <a:t>public class </a:t>
            </a:r>
            <a:r>
              <a:rPr sz="2000" dirty="0" err="1"/>
              <a:t>HelloServlet</a:t>
            </a:r>
            <a:r>
              <a:rPr sz="2000" dirty="0"/>
              <a:t> extends </a:t>
            </a:r>
            <a:r>
              <a:rPr sz="2000" dirty="0" err="1"/>
              <a:t>HttpServlet</a:t>
            </a:r>
            <a:r>
              <a:rPr sz="2000" dirty="0"/>
              <a:t> {</a:t>
            </a:r>
          </a:p>
          <a:p>
            <a:r>
              <a:rPr sz="2000" dirty="0"/>
              <a:t>  public void </a:t>
            </a:r>
            <a:r>
              <a:rPr sz="2000" dirty="0" err="1"/>
              <a:t>doGet</a:t>
            </a:r>
            <a:r>
              <a:rPr sz="2000" dirty="0"/>
              <a:t>(</a:t>
            </a:r>
            <a:r>
              <a:rPr sz="2000" dirty="0" err="1"/>
              <a:t>HttpServletRequest</a:t>
            </a:r>
            <a:r>
              <a:rPr sz="2000" dirty="0"/>
              <a:t> request,</a:t>
            </a:r>
          </a:p>
          <a:p>
            <a:r>
              <a:rPr sz="2000" dirty="0"/>
              <a:t>                    </a:t>
            </a:r>
            <a:r>
              <a:rPr sz="2000" dirty="0" err="1"/>
              <a:t>HttpServletResponse</a:t>
            </a:r>
            <a:r>
              <a:rPr sz="2000" dirty="0"/>
              <a:t> response)</a:t>
            </a:r>
          </a:p>
          <a:p>
            <a:r>
              <a:rPr sz="2000" dirty="0"/>
              <a:t>                    throws </a:t>
            </a:r>
            <a:r>
              <a:rPr sz="2000" dirty="0" err="1"/>
              <a:t>IOException</a:t>
            </a:r>
            <a:r>
              <a:rPr sz="2000" dirty="0"/>
              <a:t> {</a:t>
            </a:r>
          </a:p>
          <a:p>
            <a:r>
              <a:rPr sz="2000" dirty="0"/>
              <a:t>      </a:t>
            </a:r>
            <a:r>
              <a:rPr sz="2000" dirty="0" err="1"/>
              <a:t>response.setContentType</a:t>
            </a:r>
            <a:r>
              <a:rPr sz="2000" dirty="0"/>
              <a:t>("text/html");</a:t>
            </a:r>
          </a:p>
          <a:p>
            <a:r>
              <a:rPr sz="2000" dirty="0"/>
              <a:t>      </a:t>
            </a:r>
            <a:r>
              <a:rPr sz="2000" dirty="0" err="1"/>
              <a:t>PrintWriter</a:t>
            </a:r>
            <a:r>
              <a:rPr sz="2000" dirty="0"/>
              <a:t> out = </a:t>
            </a:r>
            <a:r>
              <a:rPr sz="2000" dirty="0" err="1"/>
              <a:t>response.getWriter</a:t>
            </a:r>
            <a:r>
              <a:rPr sz="2000" dirty="0"/>
              <a:t>();</a:t>
            </a:r>
          </a:p>
          <a:p>
            <a:r>
              <a:rPr sz="2000" dirty="0"/>
              <a:t>      </a:t>
            </a:r>
            <a:r>
              <a:rPr sz="2000" dirty="0" err="1"/>
              <a:t>out.println</a:t>
            </a:r>
            <a:r>
              <a:rPr sz="2000" dirty="0"/>
              <a:t>("&lt;h1&gt;Hello Welcome to Servlets&lt;/h1&gt;");</a:t>
            </a:r>
          </a:p>
          <a:p>
            <a:r>
              <a:rPr sz="2000" dirty="0"/>
              <a:t>  }</a:t>
            </a:r>
          </a:p>
          <a:p>
            <a:r>
              <a:rPr sz="2000" dirty="0"/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web.xml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&lt;web-app&gt;</a:t>
            </a:r>
          </a:p>
          <a:p>
            <a:r>
              <a:rPr sz="2400" dirty="0"/>
              <a:t> &lt;servlet&gt;</a:t>
            </a:r>
          </a:p>
          <a:p>
            <a:r>
              <a:rPr sz="2400" dirty="0"/>
              <a:t>  &lt;servlet-name&gt;</a:t>
            </a:r>
            <a:r>
              <a:rPr sz="2400" dirty="0" err="1"/>
              <a:t>HelloServlet</a:t>
            </a:r>
            <a:r>
              <a:rPr sz="2400" dirty="0"/>
              <a:t>&lt;/servlet-name&gt;</a:t>
            </a:r>
          </a:p>
          <a:p>
            <a:r>
              <a:rPr sz="2400" dirty="0"/>
              <a:t>  &lt;servlet-class&gt;</a:t>
            </a:r>
            <a:r>
              <a:rPr sz="2400" dirty="0" err="1"/>
              <a:t>HelloServlet</a:t>
            </a:r>
            <a:r>
              <a:rPr sz="2400" dirty="0"/>
              <a:t>&lt;/servlet-class&gt;</a:t>
            </a:r>
          </a:p>
          <a:p>
            <a:r>
              <a:rPr sz="2400" dirty="0"/>
              <a:t> &lt;/servlet&gt;</a:t>
            </a:r>
          </a:p>
          <a:p>
            <a:r>
              <a:rPr sz="2400" dirty="0"/>
              <a:t> &lt;servlet-mapping&gt;</a:t>
            </a:r>
          </a:p>
          <a:p>
            <a:r>
              <a:rPr sz="2400" dirty="0"/>
              <a:t>  &lt;servlet-name&gt;</a:t>
            </a:r>
            <a:r>
              <a:rPr sz="2400" dirty="0" err="1"/>
              <a:t>HelloServlet</a:t>
            </a:r>
            <a:r>
              <a:rPr sz="2400" dirty="0"/>
              <a:t>&lt;/servlet-name&gt;</a:t>
            </a:r>
          </a:p>
          <a:p>
            <a:r>
              <a:rPr sz="2400" dirty="0"/>
              <a:t>  &lt;</a:t>
            </a:r>
            <a:r>
              <a:rPr sz="2400" dirty="0" err="1"/>
              <a:t>url</a:t>
            </a:r>
            <a:r>
              <a:rPr sz="2400" dirty="0"/>
              <a:t>-pattern&gt;/hello&lt;/</a:t>
            </a:r>
            <a:r>
              <a:rPr sz="2400" dirty="0" err="1"/>
              <a:t>url</a:t>
            </a:r>
            <a:r>
              <a:rPr sz="2400" dirty="0"/>
              <a:t>-pattern&gt;</a:t>
            </a:r>
          </a:p>
          <a:p>
            <a:r>
              <a:rPr sz="2400" dirty="0"/>
              <a:t> &lt;/servlet-mapping&gt;</a:t>
            </a:r>
          </a:p>
          <a:p>
            <a:r>
              <a:rPr sz="2400" dirty="0"/>
              <a:t>&lt;/web-app&gt;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Servlet URL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http://localhost:8080/projectname/hello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Servlet Annotation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@WebServlet instead of web.xml configuration.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Annotation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@</a:t>
            </a:r>
            <a:r>
              <a:rPr sz="2800" dirty="0" err="1"/>
              <a:t>WebServlet</a:t>
            </a:r>
            <a:r>
              <a:rPr sz="2800" dirty="0"/>
              <a:t>("/hello")</a:t>
            </a:r>
          </a:p>
          <a:p>
            <a:r>
              <a:rPr sz="2800" dirty="0"/>
              <a:t>public class </a:t>
            </a:r>
            <a:r>
              <a:rPr sz="2800" dirty="0" err="1"/>
              <a:t>HelloServlet</a:t>
            </a:r>
            <a:r>
              <a:rPr sz="2800" dirty="0"/>
              <a:t> extends </a:t>
            </a:r>
            <a:r>
              <a:rPr sz="2800" dirty="0" err="1"/>
              <a:t>HttpServlet</a:t>
            </a:r>
            <a:r>
              <a:rPr sz="2800" dirty="0"/>
              <a:t> {</a:t>
            </a:r>
          </a:p>
          <a:p>
            <a:r>
              <a:rPr sz="2800" dirty="0"/>
              <a:t> protected void </a:t>
            </a:r>
            <a:r>
              <a:rPr sz="2800" dirty="0" err="1"/>
              <a:t>doGet</a:t>
            </a:r>
            <a:r>
              <a:rPr sz="2800" dirty="0"/>
              <a:t>(</a:t>
            </a:r>
            <a:r>
              <a:rPr sz="2800" dirty="0" err="1"/>
              <a:t>HttpServletRequest</a:t>
            </a:r>
            <a:r>
              <a:rPr sz="2800" dirty="0"/>
              <a:t> request,</a:t>
            </a:r>
          </a:p>
          <a:p>
            <a:r>
              <a:rPr sz="2800" dirty="0"/>
              <a:t>                      </a:t>
            </a:r>
            <a:r>
              <a:rPr sz="2800" dirty="0" err="1"/>
              <a:t>HttpServletResponse</a:t>
            </a:r>
            <a:r>
              <a:rPr sz="2800" dirty="0"/>
              <a:t> response)</a:t>
            </a:r>
          </a:p>
          <a:p>
            <a:r>
              <a:rPr sz="2800" dirty="0"/>
              <a:t>                      throws </a:t>
            </a:r>
            <a:r>
              <a:rPr sz="2800" dirty="0" err="1"/>
              <a:t>IOException</a:t>
            </a:r>
            <a:r>
              <a:rPr sz="2800" dirty="0"/>
              <a:t> {</a:t>
            </a:r>
          </a:p>
          <a:p>
            <a:r>
              <a:rPr sz="2800" dirty="0"/>
              <a:t>  </a:t>
            </a:r>
            <a:r>
              <a:rPr sz="2800" dirty="0" err="1"/>
              <a:t>PrintWriter</a:t>
            </a:r>
            <a:r>
              <a:rPr sz="2800" dirty="0"/>
              <a:t> out = </a:t>
            </a:r>
            <a:r>
              <a:rPr sz="2800" dirty="0" err="1"/>
              <a:t>response.getWriter</a:t>
            </a:r>
            <a:r>
              <a:rPr sz="2800" dirty="0"/>
              <a:t>();</a:t>
            </a:r>
          </a:p>
          <a:p>
            <a:r>
              <a:rPr sz="2800" dirty="0"/>
              <a:t>  </a:t>
            </a:r>
            <a:r>
              <a:rPr sz="2800" dirty="0" err="1"/>
              <a:t>out.println</a:t>
            </a:r>
            <a:r>
              <a:rPr sz="2800" dirty="0"/>
              <a:t>("&lt;h1&gt;Hello Servlet using Annotation&lt;/h1&gt;");</a:t>
            </a:r>
          </a:p>
          <a:p>
            <a:r>
              <a:rPr sz="2800" dirty="0"/>
              <a:t> }</a:t>
            </a:r>
          </a:p>
          <a:p>
            <a:r>
              <a:rPr sz="2800" dirty="0"/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GET is used to retrieve data from server.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String name = request.getParameter("name");</a:t>
            </a:r>
          </a:p>
          <a:p>
            <a:r>
              <a:t>PrintWriter out = response.getWriter();</a:t>
            </a:r>
          </a:p>
          <a:p>
            <a:r>
              <a:t>out.println("Hello " + name);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POST is used to send form data to server.</a:t>
            </a:r>
            <a:endParaRPr lang="en-US" dirty="0"/>
          </a:p>
          <a:p>
            <a:endParaRPr lang="en-US" dirty="0"/>
          </a:p>
          <a:p>
            <a:r>
              <a:rPr lang="en-US" dirty="0"/>
              <a:t>&lt;form action="</a:t>
            </a:r>
            <a:r>
              <a:rPr lang="en-US" dirty="0" err="1"/>
              <a:t>postExample</a:t>
            </a:r>
            <a:r>
              <a:rPr lang="en-US" dirty="0"/>
              <a:t>" method="post"&gt;</a:t>
            </a:r>
          </a:p>
          <a:p>
            <a:endParaRPr lang="en-US" dirty="0"/>
          </a:p>
          <a:p>
            <a:r>
              <a:rPr lang="en-US" dirty="0"/>
              <a:t>Name:</a:t>
            </a:r>
          </a:p>
          <a:p>
            <a:r>
              <a:rPr lang="en-US" dirty="0"/>
              <a:t>&lt;input type="text" name="name"&gt;</a:t>
            </a:r>
          </a:p>
          <a:p>
            <a:endParaRPr lang="en-US" dirty="0"/>
          </a:p>
          <a:p>
            <a:r>
              <a:rPr lang="en-US" dirty="0"/>
              <a:t>&lt;input type="submit"&gt;</a:t>
            </a:r>
          </a:p>
          <a:p>
            <a:endParaRPr lang="en-US" dirty="0"/>
          </a:p>
          <a:p>
            <a:r>
              <a:rPr lang="en-US" dirty="0"/>
              <a:t>&lt;/form&gt;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@</a:t>
            </a:r>
            <a:r>
              <a:rPr lang="en-US" dirty="0" err="1"/>
              <a:t>WebServlet</a:t>
            </a:r>
            <a:r>
              <a:rPr lang="en-US" dirty="0"/>
              <a:t>("/</a:t>
            </a:r>
            <a:r>
              <a:rPr lang="en-US" dirty="0" err="1"/>
              <a:t>postExample</a:t>
            </a:r>
            <a:r>
              <a:rPr lang="en-US" dirty="0"/>
              <a:t>")</a:t>
            </a:r>
          </a:p>
          <a:p>
            <a:r>
              <a:rPr lang="en-US" dirty="0"/>
              <a:t>public class </a:t>
            </a:r>
            <a:r>
              <a:rPr lang="en-US" dirty="0" err="1"/>
              <a:t>PostExample</a:t>
            </a:r>
            <a:r>
              <a:rPr lang="en-US" dirty="0"/>
              <a:t> extends </a:t>
            </a:r>
            <a:r>
              <a:rPr lang="en-US" dirty="0" err="1"/>
              <a:t>HttpServlet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protected void </a:t>
            </a:r>
            <a:r>
              <a:rPr lang="en-US" dirty="0" err="1"/>
              <a:t>doPost</a:t>
            </a:r>
            <a:r>
              <a:rPr lang="en-US" dirty="0"/>
              <a:t>(</a:t>
            </a:r>
            <a:r>
              <a:rPr lang="en-US" dirty="0" err="1"/>
              <a:t>HttpServletRequest</a:t>
            </a:r>
            <a:r>
              <a:rPr lang="en-US" dirty="0"/>
              <a:t> req,</a:t>
            </a:r>
          </a:p>
          <a:p>
            <a:r>
              <a:rPr lang="en-US" dirty="0"/>
              <a:t>                       </a:t>
            </a:r>
            <a:r>
              <a:rPr lang="en-US" dirty="0" err="1"/>
              <a:t>HttpServletResponse</a:t>
            </a:r>
            <a:r>
              <a:rPr lang="en-US" dirty="0"/>
              <a:t> res)</a:t>
            </a:r>
          </a:p>
          <a:p>
            <a:r>
              <a:rPr lang="en-US" dirty="0"/>
              <a:t>                       throws </a:t>
            </a:r>
            <a:r>
              <a:rPr lang="en-US" dirty="0" err="1"/>
              <a:t>IOException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String name = </a:t>
            </a:r>
            <a:r>
              <a:rPr lang="en-US" dirty="0" err="1"/>
              <a:t>req.getParameter</a:t>
            </a:r>
            <a:r>
              <a:rPr lang="en-US" dirty="0"/>
              <a:t>("name");</a:t>
            </a:r>
          </a:p>
          <a:p>
            <a:endParaRPr lang="en-US" dirty="0"/>
          </a:p>
          <a:p>
            <a:r>
              <a:rPr lang="en-US" dirty="0"/>
              <a:t>   </a:t>
            </a:r>
            <a:r>
              <a:rPr lang="en-US" dirty="0" err="1"/>
              <a:t>PrintWriter</a:t>
            </a:r>
            <a:r>
              <a:rPr lang="en-US" dirty="0"/>
              <a:t> out = </a:t>
            </a:r>
            <a:r>
              <a:rPr lang="en-US" dirty="0" err="1"/>
              <a:t>res.getWriter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</a:t>
            </a:r>
            <a:r>
              <a:rPr lang="en-US" dirty="0" err="1"/>
              <a:t>out.println</a:t>
            </a:r>
            <a:r>
              <a:rPr lang="en-US" dirty="0"/>
              <a:t>("Welcome " + name);</a:t>
            </a:r>
          </a:p>
          <a:p>
            <a:r>
              <a:rPr lang="en-US" dirty="0"/>
              <a:t> }</a:t>
            </a:r>
          </a:p>
          <a:p>
            <a:r>
              <a:rPr lang="en-US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Servlet 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Used to get initialization parameters for a specific servlet.</a:t>
            </a:r>
            <a:endParaRPr lang="en-US" dirty="0"/>
          </a:p>
          <a:p>
            <a:r>
              <a:rPr lang="pt-BR" dirty="0"/>
              <a:t>&lt;init-param&gt;</a:t>
            </a:r>
          </a:p>
          <a:p>
            <a:r>
              <a:rPr lang="pt-BR" dirty="0"/>
              <a:t>&lt;param-name&gt;username&lt;/param-name&gt;</a:t>
            </a:r>
          </a:p>
          <a:p>
            <a:r>
              <a:rPr lang="pt-BR" dirty="0"/>
              <a:t>&lt;param-value&gt;admin&lt;/param-value&gt;</a:t>
            </a:r>
          </a:p>
          <a:p>
            <a:r>
              <a:rPr lang="pt-BR" dirty="0"/>
              <a:t>&lt;/init-param&gt;</a:t>
            </a:r>
          </a:p>
          <a:p>
            <a:r>
              <a:rPr lang="en-US" dirty="0"/>
              <a:t>public void </a:t>
            </a:r>
            <a:r>
              <a:rPr lang="en-US" dirty="0" err="1"/>
              <a:t>init</a:t>
            </a:r>
            <a:r>
              <a:rPr lang="en-US" dirty="0"/>
              <a:t>(</a:t>
            </a:r>
            <a:r>
              <a:rPr lang="en-US" dirty="0" err="1"/>
              <a:t>ServletConfig</a:t>
            </a:r>
            <a:r>
              <a:rPr lang="en-US" dirty="0"/>
              <a:t> config)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String user = </a:t>
            </a:r>
            <a:r>
              <a:rPr lang="en-US" dirty="0" err="1"/>
              <a:t>config.getInitParameter</a:t>
            </a:r>
            <a:r>
              <a:rPr lang="en-US" dirty="0"/>
              <a:t>("username");</a:t>
            </a:r>
          </a:p>
          <a:p>
            <a:r>
              <a:rPr lang="en-US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Servlet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share data across multiple servlets in an application.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Dispatcher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forward or include another resource.</a:t>
            </a:r>
          </a:p>
          <a:p>
            <a:r>
              <a:t>Methods: forward(), include()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 is stateless so session tracking is required.</a:t>
            </a:r>
          </a:p>
          <a:p>
            <a:r>
              <a:t>Methods: Cookies, URL rewriting, Hidden fields, HttpSession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HttpSession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HttpSession session = request.getSession();</a:t>
            </a:r>
          </a:p>
          <a:p>
            <a:r>
              <a:t>session.setAttribute("user","John");</a:t>
            </a:r>
          </a:p>
          <a:p>
            <a:r>
              <a:t>String name = (String) session.getAttribute("user");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Cookies in Servlet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Cookies store client data on the browser.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Cookie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Cookie c = new Cookie("username","John");</a:t>
            </a:r>
          </a:p>
          <a:p>
            <a:r>
              <a:t>response.addCookie(c);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Cookies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Cookie[] cookies = request.getCookies();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Servlet vs JSP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Servlet: Java code based</a:t>
            </a:r>
          </a:p>
          <a:p>
            <a:r>
              <a:t>JSP: HTML based</a:t>
            </a:r>
          </a:p>
          <a:p>
            <a:r>
              <a:t>Servlet handles logic, JSP handles presentation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Servlets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 independent</a:t>
            </a:r>
          </a:p>
          <a:p>
            <a:r>
              <a:t>Fast compared to CGI</a:t>
            </a:r>
          </a:p>
          <a:p>
            <a:r>
              <a:t>Secure</a:t>
            </a:r>
          </a:p>
          <a:p>
            <a:r>
              <a:t>Powerful APIs</a:t>
            </a:r>
          </a:p>
          <a:p>
            <a:r>
              <a:t>Supports MVC architecture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 of Servlets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UI development is difficult</a:t>
            </a:r>
          </a:p>
          <a:p>
            <a:r>
              <a:t>Requires server configuration</a:t>
            </a:r>
          </a:p>
          <a:p>
            <a:r>
              <a:t>HTML generation becomes lengthy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 → Servlet Controller → Business Logic → Database → Response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Servlet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doGet()</a:t>
            </a:r>
          </a:p>
          <a:p>
            <a:r>
              <a:t>doPost()</a:t>
            </a:r>
          </a:p>
          <a:p>
            <a:r>
              <a:t>doPut()</a:t>
            </a:r>
          </a:p>
          <a:p>
            <a:r>
              <a:t>doDelete()</a:t>
            </a:r>
          </a:p>
          <a:p>
            <a:r>
              <a:t>doHead()</a:t>
            </a:r>
          </a:p>
          <a:p>
            <a:r>
              <a:t>doOptions()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Servlets are the foundation of Java web development and used to build dynamic web applications and backend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866</Words>
  <Application>Microsoft Office PowerPoint</Application>
  <PresentationFormat>On-screen Show (4:3)</PresentationFormat>
  <Paragraphs>188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Servlets in Java – Full Topic</vt:lpstr>
      <vt:lpstr>What is a Servlet?</vt:lpstr>
      <vt:lpstr>Servlet Containers</vt:lpstr>
      <vt:lpstr>Why Servlets are Used</vt:lpstr>
      <vt:lpstr>Servlet Architecture</vt:lpstr>
      <vt:lpstr>PowerPoint Presentation</vt:lpstr>
      <vt:lpstr>PowerPoint Presentation</vt:lpstr>
      <vt:lpstr>Servlet API Packages</vt:lpstr>
      <vt:lpstr>Important Interfaces</vt:lpstr>
      <vt:lpstr>Important Classes &amp; Interfaces </vt:lpstr>
      <vt:lpstr>Types of Servlets</vt:lpstr>
      <vt:lpstr>Generic Servlet</vt:lpstr>
      <vt:lpstr>HTTP Servlet</vt:lpstr>
      <vt:lpstr>Servlet Life Cycle</vt:lpstr>
      <vt:lpstr>PowerPoint Presentation</vt:lpstr>
      <vt:lpstr>init() Method</vt:lpstr>
      <vt:lpstr>service() Method</vt:lpstr>
      <vt:lpstr>destroy() Method</vt:lpstr>
      <vt:lpstr>PowerPoint Presentation</vt:lpstr>
      <vt:lpstr>PowerPoint Presentation</vt:lpstr>
      <vt:lpstr>First Servlet Program</vt:lpstr>
      <vt:lpstr>HelloServlet Example</vt:lpstr>
      <vt:lpstr>web.xml Configuration</vt:lpstr>
      <vt:lpstr>Servlet URL Example</vt:lpstr>
      <vt:lpstr>Servlet Annotation Method</vt:lpstr>
      <vt:lpstr>Annotation Example</vt:lpstr>
      <vt:lpstr>GET Request</vt:lpstr>
      <vt:lpstr>GET Example</vt:lpstr>
      <vt:lpstr>POST Request</vt:lpstr>
      <vt:lpstr>POST Example</vt:lpstr>
      <vt:lpstr>Servlet Config</vt:lpstr>
      <vt:lpstr>Servlet Context</vt:lpstr>
      <vt:lpstr>Request Dispatcher</vt:lpstr>
      <vt:lpstr>Session Tracking</vt:lpstr>
      <vt:lpstr>HttpSession Example</vt:lpstr>
      <vt:lpstr>Cookies in Servlet</vt:lpstr>
      <vt:lpstr>Cookie Example</vt:lpstr>
      <vt:lpstr>Reading Cookies</vt:lpstr>
      <vt:lpstr>Servlet vs JSP</vt:lpstr>
      <vt:lpstr>Advantages of Servlets</vt:lpstr>
      <vt:lpstr>Disadvantages of Servlets</vt:lpstr>
      <vt:lpstr>Real World Flow</vt:lpstr>
      <vt:lpstr>Servlet Methods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Servlets in Java – Full Topic</dc:title>
  <dc:subject/>
  <dc:creator/>
  <cp:keywords/>
  <dc:description>generated using python-pptx</dc:description>
  <cp:lastModifiedBy>LENOVO</cp:lastModifiedBy>
  <cp:revision>8</cp:revision>
  <dcterms:created xsi:type="dcterms:W3CDTF">2013-01-27T09:14:16Z</dcterms:created>
  <dcterms:modified xsi:type="dcterms:W3CDTF">2026-03-06T06:14:12Z</dcterms:modified>
  <cp:category/>
</cp:coreProperties>
</file>