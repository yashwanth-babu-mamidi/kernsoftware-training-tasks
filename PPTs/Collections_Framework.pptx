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5" r:id="rId6"/>
    <p:sldId id="286" r:id="rId7"/>
    <p:sldId id="260" r:id="rId8"/>
    <p:sldId id="261" r:id="rId9"/>
    <p:sldId id="262" r:id="rId10"/>
    <p:sldId id="287" r:id="rId11"/>
    <p:sldId id="288" r:id="rId12"/>
    <p:sldId id="263" r:id="rId13"/>
    <p:sldId id="264" r:id="rId14"/>
    <p:sldId id="265" r:id="rId15"/>
    <p:sldId id="266" r:id="rId16"/>
    <p:sldId id="267" r:id="rId17"/>
    <p:sldId id="289" r:id="rId18"/>
    <p:sldId id="290" r:id="rId19"/>
    <p:sldId id="268" r:id="rId20"/>
    <p:sldId id="269" r:id="rId21"/>
    <p:sldId id="270" r:id="rId22"/>
    <p:sldId id="271" r:id="rId23"/>
    <p:sldId id="291" r:id="rId24"/>
    <p:sldId id="292" r:id="rId25"/>
    <p:sldId id="272" r:id="rId26"/>
    <p:sldId id="273" r:id="rId27"/>
    <p:sldId id="274" r:id="rId28"/>
    <p:sldId id="293" r:id="rId29"/>
    <p:sldId id="29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956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Collections Framework in Java – Full Topic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Complete, Exam‑Ready &amp; Interview‑Ready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Collections Framework?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Collections Framework in Java is a set of classes and interfaces that provide a standardized way to store, manipulate, and process groups of objects.</a:t>
            </a:r>
          </a:p>
          <a:p>
            <a:endParaRPr/>
          </a:p>
          <a:p>
            <a:r>
              <a:t>• Introduced in Java 1.2</a:t>
            </a:r>
          </a:p>
          <a:p>
            <a:r>
              <a:t>• Located in java.util package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Collections Framework?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Before Collections:</a:t>
            </a:r>
          </a:p>
          <a:p>
            <a:r>
              <a:rPr dirty="0"/>
              <a:t>• Arrays had fixed size</a:t>
            </a:r>
          </a:p>
          <a:p>
            <a:r>
              <a:rPr dirty="0"/>
              <a:t>• No built‑in sorting/searching</a:t>
            </a:r>
          </a:p>
          <a:p>
            <a:r>
              <a:rPr dirty="0"/>
              <a:t>• No uniform architecture</a:t>
            </a:r>
          </a:p>
          <a:p>
            <a:endParaRPr dirty="0"/>
          </a:p>
          <a:p>
            <a:r>
              <a:rPr sz="2800" dirty="0"/>
              <a:t>Collections Framework Solves:</a:t>
            </a:r>
          </a:p>
          <a:p>
            <a:r>
              <a:rPr sz="2800" dirty="0"/>
              <a:t>✔ Dynamic size</a:t>
            </a:r>
          </a:p>
          <a:p>
            <a:r>
              <a:rPr sz="2800" dirty="0"/>
              <a:t>✔ Ready‑made data structures</a:t>
            </a:r>
          </a:p>
          <a:p>
            <a:r>
              <a:rPr sz="2800" dirty="0"/>
              <a:t>✔ Standard APIs</a:t>
            </a:r>
          </a:p>
          <a:p>
            <a:r>
              <a:rPr sz="2800" dirty="0"/>
              <a:t>✔ High performance</a:t>
            </a:r>
          </a:p>
          <a:p>
            <a:r>
              <a:rPr sz="2800" dirty="0"/>
              <a:t>✔ Easy maintenance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Core Components of Collections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Interfaces</a:t>
            </a:r>
          </a:p>
          <a:p>
            <a:r>
              <a:t>2. Implementing Classes</a:t>
            </a:r>
          </a:p>
          <a:p>
            <a:r>
              <a:t>3. Algorithms (Utility Methods)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BAB7-A8FE-4759-BAB9-AE446D89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569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1026" name="Picture 2" descr="Mastering the Java Collections Framework Hierarchy With Java Code ...">
            <a:extLst>
              <a:ext uri="{FF2B5EF4-FFF2-40B4-BE49-F238E27FC236}">
                <a16:creationId xmlns:a16="http://schemas.microsoft.com/office/drawing/2014/main" id="{B0F26D5E-0625-4CF1-8FEB-FDFE41CC8A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358" y="845390"/>
            <a:ext cx="8550837" cy="5991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052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D9BE-A0FB-44B5-BB8C-AB06DABCB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844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62CA2A-550E-4E76-BB20-21F1D185E7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917" y="665752"/>
            <a:ext cx="7668990" cy="591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765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 Hierarchy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Iterable</a:t>
            </a:r>
          </a:p>
          <a:p>
            <a:r>
              <a:t>   |</a:t>
            </a:r>
          </a:p>
          <a:p>
            <a:r>
              <a:t>Collection</a:t>
            </a:r>
          </a:p>
          <a:p>
            <a:r>
              <a:t>   |</a:t>
            </a:r>
          </a:p>
          <a:p>
            <a:r>
              <a:t>-----------------------------------</a:t>
            </a:r>
          </a:p>
          <a:p>
            <a:r>
              <a:t>|        |        |               |</a:t>
            </a:r>
          </a:p>
          <a:p>
            <a:r>
              <a:t>List     Set     Queue         Deque</a:t>
            </a:r>
          </a:p>
          <a:p>
            <a:endParaRPr/>
          </a:p>
          <a:p>
            <a:r>
              <a:t>⚠ Map is NOT part of Collection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Root interface of Collections Framework</a:t>
            </a:r>
          </a:p>
          <a:p>
            <a:r>
              <a:t>• Represents a group of objects</a:t>
            </a:r>
          </a:p>
          <a:p>
            <a:r>
              <a:t>• Does NOT store key‑value pairs</a:t>
            </a:r>
          </a:p>
          <a:p>
            <a:endParaRPr/>
          </a:p>
          <a:p>
            <a:r>
              <a:t>Common Methods:</a:t>
            </a:r>
          </a:p>
          <a:p>
            <a:r>
              <a:t>add(), remove(), size(), isEmpty(), contains(), clear()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Allows duplicate elements</a:t>
            </a:r>
          </a:p>
          <a:p>
            <a:r>
              <a:t>• Maintains insertion order</a:t>
            </a:r>
          </a:p>
          <a:p>
            <a:r>
              <a:t>• Index‑based access</a:t>
            </a:r>
          </a:p>
          <a:p>
            <a:endParaRPr/>
          </a:p>
          <a:p>
            <a:r>
              <a:t>Implementations:</a:t>
            </a:r>
          </a:p>
          <a:p>
            <a:r>
              <a:t>• ArrayList</a:t>
            </a:r>
          </a:p>
          <a:p>
            <a:r>
              <a:t>• LinkedList</a:t>
            </a:r>
          </a:p>
          <a:p>
            <a:r>
              <a:t>• Vector</a:t>
            </a:r>
          </a:p>
          <a:p>
            <a:r>
              <a:t>• Stack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E7DD-33E9-45F8-97C2-1A86C22C4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4C69E-40DE-46F6-8DB0-4CE573BCB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47" y="1738223"/>
            <a:ext cx="8229600" cy="4525963"/>
          </a:xfrm>
        </p:spPr>
        <p:txBody>
          <a:bodyPr/>
          <a:lstStyle/>
          <a:p>
            <a:endParaRPr lang="en-US"/>
          </a:p>
        </p:txBody>
      </p:sp>
      <p:pic>
        <p:nvPicPr>
          <p:cNvPr id="3074" name="Picture 2" descr="https://miro.medium.com/0%2AZFAZemW0vAvdkZgg">
            <a:extLst>
              <a:ext uri="{FF2B5EF4-FFF2-40B4-BE49-F238E27FC236}">
                <a16:creationId xmlns:a16="http://schemas.microsoft.com/office/drawing/2014/main" id="{6C01F75D-78BF-4641-9A4B-8C0760C65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47" y="381000"/>
            <a:ext cx="8384832" cy="5883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629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C454-E5EF-4A94-ACEF-0C72CC358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393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C06760-851D-4428-B2E6-6DC88175D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557" y="707366"/>
            <a:ext cx="8283521" cy="541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16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Uses dynamic array</a:t>
            </a:r>
          </a:p>
          <a:p>
            <a:r>
              <a:t>• Fast random access</a:t>
            </a:r>
          </a:p>
          <a:p>
            <a:r>
              <a:t>• Slow insertion/deletion in middle</a:t>
            </a:r>
          </a:p>
          <a:p>
            <a:endParaRPr/>
          </a:p>
          <a:p>
            <a:r>
              <a:t>Example:</a:t>
            </a:r>
          </a:p>
          <a:p>
            <a:r>
              <a:t>List&lt;String&gt; list = new ArrayList&lt;&gt;();</a:t>
            </a:r>
          </a:p>
          <a:p>
            <a:r>
              <a:t>list.add("Java");</a:t>
            </a:r>
          </a:p>
          <a:p>
            <a:r>
              <a:t>list.add("Python");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LinkedList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Uses doubly linked list</a:t>
            </a:r>
          </a:p>
          <a:p>
            <a:r>
              <a:rPr dirty="0"/>
              <a:t>• Faster insertion/deletion</a:t>
            </a:r>
          </a:p>
          <a:p>
            <a:r>
              <a:rPr dirty="0"/>
              <a:t>• Slower access</a:t>
            </a:r>
          </a:p>
          <a:p>
            <a:endParaRPr dirty="0"/>
          </a:p>
          <a:p>
            <a:r>
              <a:rPr lang="en-US" dirty="0"/>
              <a:t>List&lt;Integer&gt; list = new LinkedList&lt;&gt;();</a:t>
            </a:r>
          </a:p>
          <a:p>
            <a:r>
              <a:rPr lang="en-US" dirty="0" err="1"/>
              <a:t>list.add</a:t>
            </a:r>
            <a:r>
              <a:rPr lang="en-US" dirty="0"/>
              <a:t>(10);</a:t>
            </a:r>
          </a:p>
          <a:p>
            <a:r>
              <a:rPr lang="en-US" dirty="0" err="1"/>
              <a:t>list.add</a:t>
            </a:r>
            <a:r>
              <a:rPr lang="en-US" dirty="0"/>
              <a:t>(20);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(Legacy)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Thread‑safe</a:t>
            </a:r>
          </a:p>
          <a:p>
            <a:r>
              <a:t>• Synchronized</a:t>
            </a:r>
          </a:p>
          <a:p>
            <a:r>
              <a:t>• Slower than ArrayList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(LIFO)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Stack&lt;Integer&gt; stack = new Stack&lt;&gt;();</a:t>
            </a:r>
          </a:p>
          <a:p>
            <a:r>
              <a:t>stack.push(10);</a:t>
            </a:r>
          </a:p>
          <a:p>
            <a:r>
              <a:t>stack.pop();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duplicates</a:t>
            </a:r>
          </a:p>
          <a:p>
            <a:r>
              <a:t>• No guaranteed order</a:t>
            </a:r>
          </a:p>
          <a:p>
            <a:endParaRPr/>
          </a:p>
          <a:p>
            <a:r>
              <a:t>Implementations:</a:t>
            </a:r>
          </a:p>
          <a:p>
            <a:r>
              <a:t>• HashSet</a:t>
            </a:r>
          </a:p>
          <a:p>
            <a:r>
              <a:t>• LinkedHashSet</a:t>
            </a:r>
          </a:p>
          <a:p>
            <a:r>
              <a:t>• TreeSet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CBB6-18E9-4347-A2E4-37AB35810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219225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4098" name="Picture 2" descr="https://miro.medium.com/1%2AGrNBhtgzun0M_1Y_LHTnaQ.png">
            <a:extLst>
              <a:ext uri="{FF2B5EF4-FFF2-40B4-BE49-F238E27FC236}">
                <a16:creationId xmlns:a16="http://schemas.microsoft.com/office/drawing/2014/main" id="{7BEBBE9B-F684-4915-A965-E3EB7FAF87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98" y="379563"/>
            <a:ext cx="8678174" cy="595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703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93E5C8-FFCE-4829-B863-B85AD03D0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862" y="258792"/>
            <a:ext cx="8898230" cy="638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23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• Uses hashing</a:t>
            </a:r>
          </a:p>
          <a:p>
            <a:r>
              <a:rPr dirty="0"/>
              <a:t>• No order</a:t>
            </a:r>
          </a:p>
          <a:p>
            <a:r>
              <a:rPr dirty="0"/>
              <a:t>• Fast performance</a:t>
            </a:r>
          </a:p>
          <a:p>
            <a:endParaRPr dirty="0"/>
          </a:p>
          <a:p>
            <a:r>
              <a:rPr lang="en-US" dirty="0"/>
              <a:t>Set&lt;String&gt; set = new HashSet&lt;&gt;();</a:t>
            </a:r>
          </a:p>
          <a:p>
            <a:r>
              <a:rPr lang="en-US" dirty="0" err="1"/>
              <a:t>set.add</a:t>
            </a:r>
            <a:r>
              <a:rPr lang="en-US" dirty="0"/>
              <a:t>("A");</a:t>
            </a:r>
          </a:p>
          <a:p>
            <a:r>
              <a:rPr lang="en-US" dirty="0" err="1"/>
              <a:t>set.add</a:t>
            </a:r>
            <a:r>
              <a:rPr lang="en-US" dirty="0"/>
              <a:t>("B");</a:t>
            </a:r>
          </a:p>
          <a:p>
            <a:r>
              <a:rPr lang="en-US" dirty="0" err="1"/>
              <a:t>set.add</a:t>
            </a:r>
            <a:r>
              <a:rPr lang="en-US" dirty="0"/>
              <a:t>("A"); // ignored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LinkedHashSet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Maintains insertion order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• Sorted order</a:t>
            </a:r>
          </a:p>
          <a:p>
            <a:r>
              <a:rPr dirty="0"/>
              <a:t>• Uses Red‑Black Tree</a:t>
            </a:r>
          </a:p>
          <a:p>
            <a:r>
              <a:rPr dirty="0"/>
              <a:t>• Slower than HashSet</a:t>
            </a:r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sz="2800" dirty="0"/>
              <a:t>Set&lt;Integer&gt; set = new </a:t>
            </a:r>
            <a:r>
              <a:rPr lang="en-US" sz="2800" dirty="0" err="1"/>
              <a:t>TreeSet</a:t>
            </a:r>
            <a:r>
              <a:rPr lang="en-US" sz="2800" dirty="0"/>
              <a:t>&lt;&gt;();</a:t>
            </a:r>
          </a:p>
          <a:p>
            <a:r>
              <a:rPr lang="en-US" sz="2800" dirty="0" err="1"/>
              <a:t>set.add</a:t>
            </a:r>
            <a:r>
              <a:rPr lang="en-US" sz="2800" dirty="0"/>
              <a:t>(30);</a:t>
            </a:r>
          </a:p>
          <a:p>
            <a:r>
              <a:rPr lang="en-US" sz="2800" dirty="0" err="1"/>
              <a:t>set.add</a:t>
            </a:r>
            <a:r>
              <a:rPr lang="en-US" sz="2800" dirty="0"/>
              <a:t>(10);</a:t>
            </a:r>
          </a:p>
          <a:p>
            <a:r>
              <a:rPr lang="en-US" sz="2800" dirty="0" err="1"/>
              <a:t>set.add</a:t>
            </a:r>
            <a:r>
              <a:rPr lang="en-US" sz="2800" dirty="0"/>
              <a:t>(20);</a:t>
            </a:r>
          </a:p>
          <a:p>
            <a:r>
              <a:rPr lang="en-US" sz="2800" dirty="0" err="1"/>
              <a:t>System.out.println</a:t>
            </a:r>
            <a:r>
              <a:rPr lang="en-US" sz="2800" dirty="0"/>
              <a:t>(set); // [10, 20, 30]</a:t>
            </a:r>
            <a:endParaRPr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Queue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Follows FIFO</a:t>
            </a:r>
          </a:p>
          <a:p>
            <a:r>
              <a:t>• Used for processing elements</a:t>
            </a:r>
          </a:p>
          <a:p>
            <a:endParaRPr/>
          </a:p>
          <a:p>
            <a:r>
              <a:t>Implementations:</a:t>
            </a:r>
          </a:p>
          <a:p>
            <a:r>
              <a:t>• PriorityQueue</a:t>
            </a:r>
          </a:p>
          <a:p>
            <a:r>
              <a:t>• LinkedList</a:t>
            </a:r>
          </a:p>
          <a:p>
            <a:r>
              <a:t>• ArrayDeque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EB8F9-9A2A-4DA2-831F-F2613671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122" name="Picture 2" descr="https://miro.medium.com/0%2ANyuZah8Xg34sF4eS">
            <a:extLst>
              <a:ext uri="{FF2B5EF4-FFF2-40B4-BE49-F238E27FC236}">
                <a16:creationId xmlns:a16="http://schemas.microsoft.com/office/drawing/2014/main" id="{11AA9F78-A034-4F9A-8B53-830EF29234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0357"/>
            <a:ext cx="8229600" cy="592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9060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D0AF-C6DD-48A3-8A6F-2DDFA7DFF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6146" name="Picture 2" descr="https://d33wubrfki0l68.cloudfront.net/0927054f3255230e75b6ecd1b5bba9ceb3e8d3e9/fee48/static/dc8fe7b4bba83ff881497f51b25951a2/51aac/priority-queue-data-structure.jpg">
            <a:extLst>
              <a:ext uri="{FF2B5EF4-FFF2-40B4-BE49-F238E27FC236}">
                <a16:creationId xmlns:a16="http://schemas.microsoft.com/office/drawing/2014/main" id="{235926F7-7175-4C58-BC69-1CC4AEA625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17" y="274638"/>
            <a:ext cx="8746766" cy="608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726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• Elements processed based on priority</a:t>
            </a:r>
          </a:p>
          <a:p>
            <a:r>
              <a:rPr dirty="0"/>
              <a:t>• Default: Min Heap</a:t>
            </a:r>
          </a:p>
          <a:p>
            <a:endParaRPr dirty="0"/>
          </a:p>
          <a:p>
            <a:r>
              <a:rPr lang="en-US" dirty="0"/>
              <a:t>Queue&lt;Integer&gt; </a:t>
            </a:r>
            <a:r>
              <a:rPr lang="en-US" dirty="0" err="1"/>
              <a:t>pq</a:t>
            </a:r>
            <a:r>
              <a:rPr lang="en-US" dirty="0"/>
              <a:t> = new </a:t>
            </a:r>
            <a:r>
              <a:rPr lang="en-US" dirty="0" err="1"/>
              <a:t>PriorityQueue</a:t>
            </a:r>
            <a:r>
              <a:rPr lang="en-US" dirty="0"/>
              <a:t>&lt;&gt;();</a:t>
            </a:r>
          </a:p>
          <a:p>
            <a:r>
              <a:rPr lang="en-US" dirty="0" err="1"/>
              <a:t>pq.add</a:t>
            </a:r>
            <a:r>
              <a:rPr lang="en-US" dirty="0"/>
              <a:t>(30);</a:t>
            </a:r>
          </a:p>
          <a:p>
            <a:r>
              <a:rPr lang="en-US" dirty="0" err="1"/>
              <a:t>pq.add</a:t>
            </a:r>
            <a:r>
              <a:rPr lang="en-US" dirty="0"/>
              <a:t>(10);</a:t>
            </a:r>
          </a:p>
          <a:p>
            <a:r>
              <a:rPr lang="en-US" dirty="0" err="1"/>
              <a:t>pq.add</a:t>
            </a:r>
            <a:r>
              <a:rPr lang="en-US" dirty="0"/>
              <a:t>(20);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pq.poll</a:t>
            </a:r>
            <a:r>
              <a:rPr lang="en-US" dirty="0"/>
              <a:t>()); // 10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Deque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Double Ended Queue</a:t>
            </a:r>
          </a:p>
          <a:p>
            <a:r>
              <a:rPr dirty="0"/>
              <a:t>• Insert/remove from both ends</a:t>
            </a:r>
          </a:p>
          <a:p>
            <a:endParaRPr dirty="0"/>
          </a:p>
          <a:p>
            <a:r>
              <a:rPr lang="en-US" dirty="0"/>
              <a:t>Deque&lt;Integer&gt; </a:t>
            </a:r>
            <a:r>
              <a:rPr lang="en-US" dirty="0" err="1"/>
              <a:t>dq</a:t>
            </a:r>
            <a:r>
              <a:rPr lang="en-US" dirty="0"/>
              <a:t> = new </a:t>
            </a:r>
            <a:r>
              <a:rPr lang="en-US" dirty="0" err="1"/>
              <a:t>ArrayDeque</a:t>
            </a:r>
            <a:r>
              <a:rPr lang="en-US" dirty="0"/>
              <a:t>&lt;&gt;();</a:t>
            </a:r>
          </a:p>
          <a:p>
            <a:r>
              <a:rPr lang="en-US" dirty="0" err="1"/>
              <a:t>dq.addFirst</a:t>
            </a:r>
            <a:r>
              <a:rPr lang="en-US" dirty="0"/>
              <a:t>(10);</a:t>
            </a:r>
          </a:p>
          <a:p>
            <a:r>
              <a:rPr lang="en-US" dirty="0" err="1"/>
              <a:t>dq.addLast</a:t>
            </a:r>
            <a:r>
              <a:rPr lang="en-US" dirty="0"/>
              <a:t>(20);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 Interface (Not 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Stores key‑value pairs</a:t>
            </a:r>
          </a:p>
          <a:p>
            <a:r>
              <a:t>• Keys are unique</a:t>
            </a:r>
          </a:p>
          <a:p>
            <a:r>
              <a:t>• Values can be duplicated</a:t>
            </a:r>
          </a:p>
          <a:p>
            <a:endParaRPr/>
          </a:p>
          <a:p>
            <a:r>
              <a:t>Implementations:</a:t>
            </a:r>
          </a:p>
          <a:p>
            <a:r>
              <a:t>• HashMap</a:t>
            </a:r>
          </a:p>
          <a:p>
            <a:r>
              <a:t>• LinkedHashMap</a:t>
            </a:r>
          </a:p>
          <a:p>
            <a:r>
              <a:t>• TreeMap</a:t>
            </a:r>
          </a:p>
          <a:p>
            <a:r>
              <a:t>• Hashtable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97F0A-6D1E-4A89-B41A-856D3CD0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7170" name="Picture 2" descr="java - Difference between HashMap, LinkedHashMap and TreeMap ...">
            <a:extLst>
              <a:ext uri="{FF2B5EF4-FFF2-40B4-BE49-F238E27FC236}">
                <a16:creationId xmlns:a16="http://schemas.microsoft.com/office/drawing/2014/main" id="{91E59BD8-2C59-4A67-99F0-8CF30D298D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337779"/>
            <a:ext cx="8553450" cy="6036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9754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8EB7-D493-4C4F-B732-D2FF19398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8A8492-5F52-4353-BD16-C30AC3A8C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320357"/>
            <a:ext cx="8401050" cy="606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44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• No order</a:t>
            </a:r>
          </a:p>
          <a:p>
            <a:r>
              <a:rPr dirty="0"/>
              <a:t>• Allows one null key</a:t>
            </a:r>
          </a:p>
          <a:p>
            <a:r>
              <a:rPr dirty="0"/>
              <a:t>• Not synchronized</a:t>
            </a:r>
            <a:endParaRPr lang="en-US" dirty="0"/>
          </a:p>
          <a:p>
            <a:r>
              <a:rPr lang="en-US" dirty="0"/>
              <a:t>Example : </a:t>
            </a:r>
          </a:p>
          <a:p>
            <a:r>
              <a:rPr lang="en-US" dirty="0"/>
              <a:t>Map&lt;Integer, String&gt; map = new HashMap&lt;&gt;();</a:t>
            </a:r>
          </a:p>
          <a:p>
            <a:r>
              <a:rPr lang="en-US" dirty="0" err="1"/>
              <a:t>map.put</a:t>
            </a:r>
            <a:r>
              <a:rPr lang="en-US" dirty="0"/>
              <a:t>(101, "Ravi");</a:t>
            </a:r>
          </a:p>
          <a:p>
            <a:r>
              <a:rPr lang="en-US" dirty="0" err="1"/>
              <a:t>map.put</a:t>
            </a:r>
            <a:r>
              <a:rPr lang="en-US" dirty="0"/>
              <a:t>(102, "Kumar");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LinkedHashMap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Maintains insertion order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TreeMap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Sorted by key</a:t>
            </a:r>
          </a:p>
          <a:p>
            <a:r>
              <a:t>• No null key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Hashtable (Legacy)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Synchronized</a:t>
            </a:r>
          </a:p>
          <a:p>
            <a:r>
              <a:t>• No null key/value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Iterator &amp; ListIterator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Iterator:</a:t>
            </a:r>
          </a:p>
          <a:p>
            <a:r>
              <a:rPr dirty="0"/>
              <a:t>• Forward direction only</a:t>
            </a:r>
            <a:endParaRPr lang="en-US" dirty="0"/>
          </a:p>
          <a:p>
            <a:r>
              <a:rPr lang="en-US" dirty="0"/>
              <a:t>Example : </a:t>
            </a:r>
          </a:p>
          <a:p>
            <a:r>
              <a:rPr lang="en-US" dirty="0"/>
              <a:t>Iterator&lt;String&gt; </a:t>
            </a:r>
            <a:r>
              <a:rPr lang="en-US" dirty="0" err="1"/>
              <a:t>itr</a:t>
            </a:r>
            <a:r>
              <a:rPr lang="en-US" dirty="0"/>
              <a:t> = </a:t>
            </a:r>
            <a:r>
              <a:rPr lang="en-US" dirty="0" err="1"/>
              <a:t>list.iterator</a:t>
            </a:r>
            <a:r>
              <a:rPr lang="en-US" dirty="0"/>
              <a:t>();</a:t>
            </a:r>
          </a:p>
          <a:p>
            <a:r>
              <a:rPr lang="en-US" dirty="0"/>
              <a:t>while(</a:t>
            </a:r>
            <a:r>
              <a:rPr lang="en-US" dirty="0" err="1"/>
              <a:t>itr.hasNext</a:t>
            </a:r>
            <a:r>
              <a:rPr lang="en-US" dirty="0"/>
              <a:t>()) {</a:t>
            </a:r>
          </a:p>
          <a:p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itr.next</a:t>
            </a:r>
            <a:r>
              <a:rPr lang="en-US" dirty="0"/>
              <a:t>());</a:t>
            </a:r>
          </a:p>
          <a:p>
            <a:r>
              <a:rPr lang="en-US" dirty="0"/>
              <a:t>}</a:t>
            </a:r>
            <a:endParaRPr dirty="0"/>
          </a:p>
          <a:p>
            <a:endParaRPr dirty="0"/>
          </a:p>
          <a:p>
            <a:r>
              <a:rPr dirty="0" err="1"/>
              <a:t>ListIterator</a:t>
            </a:r>
            <a:r>
              <a:rPr dirty="0"/>
              <a:t>:</a:t>
            </a:r>
          </a:p>
          <a:p>
            <a:r>
              <a:rPr dirty="0"/>
              <a:t>• Forward + backward</a:t>
            </a:r>
          </a:p>
          <a:p>
            <a:r>
              <a:rPr dirty="0"/>
              <a:t>• Only for List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Collections Utility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java.util.Collections</a:t>
            </a:r>
          </a:p>
          <a:p>
            <a:endParaRPr/>
          </a:p>
          <a:p>
            <a:r>
              <a:t>Methods:</a:t>
            </a:r>
          </a:p>
          <a:p>
            <a:r>
              <a:t>sort(), reverse(), shuffle(), max(), min(), binarySearch()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Comparable vs Comparator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Comparable:</a:t>
            </a:r>
          </a:p>
          <a:p>
            <a:r>
              <a:t>• compareTo()</a:t>
            </a:r>
          </a:p>
          <a:p>
            <a:r>
              <a:t>• Natural ordering</a:t>
            </a:r>
          </a:p>
          <a:p>
            <a:r>
              <a:t>• Inside class</a:t>
            </a:r>
          </a:p>
          <a:p>
            <a:endParaRPr/>
          </a:p>
          <a:p>
            <a:r>
              <a:t>Comparator:</a:t>
            </a:r>
          </a:p>
          <a:p>
            <a:r>
              <a:t>• compare()</a:t>
            </a:r>
          </a:p>
          <a:p>
            <a:r>
              <a:t>• Custom ordering</a:t>
            </a:r>
          </a:p>
          <a:p>
            <a:r>
              <a:t>• Outside class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Thread Safety in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Thread Safe:</a:t>
            </a:r>
          </a:p>
          <a:p>
            <a:r>
              <a:t>• Vector</a:t>
            </a:r>
          </a:p>
          <a:p>
            <a:r>
              <a:t>• Hashtable</a:t>
            </a:r>
          </a:p>
          <a:p>
            <a:endParaRPr/>
          </a:p>
          <a:p>
            <a:r>
              <a:t>Not Thread Safe:</a:t>
            </a:r>
          </a:p>
          <a:p>
            <a:r>
              <a:t>• ArrayList</a:t>
            </a:r>
          </a:p>
          <a:p>
            <a:r>
              <a:t>• HashMap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Fail‑Fast vs Fail‑Safe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Fail‑Fast:</a:t>
            </a:r>
          </a:p>
          <a:p>
            <a:r>
              <a:t>• ConcurrentModificationException</a:t>
            </a:r>
          </a:p>
          <a:p>
            <a:r>
              <a:t>• ArrayList, HashMap</a:t>
            </a:r>
          </a:p>
          <a:p>
            <a:endParaRPr/>
          </a:p>
          <a:p>
            <a:r>
              <a:t>Fail‑Safe:</a:t>
            </a:r>
          </a:p>
          <a:p>
            <a:r>
              <a:t>• ConcurrentHashMap</a:t>
            </a:r>
          </a:p>
          <a:p>
            <a:r>
              <a:t>• CopyOnWriteArrayList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(Interview Gold)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✔ Collection is root interface</a:t>
            </a:r>
          </a:p>
          <a:p>
            <a:r>
              <a:t>✔ List → duplicates + order</a:t>
            </a:r>
          </a:p>
          <a:p>
            <a:r>
              <a:t>✔ Set → unique elements</a:t>
            </a:r>
          </a:p>
          <a:p>
            <a:r>
              <a:t>✔ Queue → FIFO</a:t>
            </a:r>
          </a:p>
          <a:p>
            <a:r>
              <a:t>✔ Map → key‑value pairs</a:t>
            </a:r>
          </a:p>
          <a:p>
            <a:r>
              <a:t>✔ HashMap fastest</a:t>
            </a:r>
          </a:p>
          <a:p>
            <a:r>
              <a:t>✔ TreeSet &amp; TreeMap sorted</a:t>
            </a:r>
          </a:p>
          <a:p>
            <a:r>
              <a:t>✔ Vector &amp; Hashtable are legacy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839</Words>
  <Application>Microsoft Office PowerPoint</Application>
  <PresentationFormat>On-screen Show (4:3)</PresentationFormat>
  <Paragraphs>207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Collections Framework in Java – Full Topic</vt:lpstr>
      <vt:lpstr>What is Collections Framework?</vt:lpstr>
      <vt:lpstr>Why Collections Framework?</vt:lpstr>
      <vt:lpstr>Core Components of Collections Framework</vt:lpstr>
      <vt:lpstr>PowerPoint Presentation</vt:lpstr>
      <vt:lpstr>PowerPoint Presentation</vt:lpstr>
      <vt:lpstr>Collection Hierarchy (Overview)</vt:lpstr>
      <vt:lpstr>Collection Interface</vt:lpstr>
      <vt:lpstr>List Interface</vt:lpstr>
      <vt:lpstr>PowerPoint Presentation</vt:lpstr>
      <vt:lpstr>PowerPoint Presentation</vt:lpstr>
      <vt:lpstr>ArrayList</vt:lpstr>
      <vt:lpstr>LinkedList</vt:lpstr>
      <vt:lpstr>Vector (Legacy)</vt:lpstr>
      <vt:lpstr>Stack (LIFO)</vt:lpstr>
      <vt:lpstr>Set Interface</vt:lpstr>
      <vt:lpstr>PowerPoint Presentation</vt:lpstr>
      <vt:lpstr>PowerPoint Presentation</vt:lpstr>
      <vt:lpstr>HashSet</vt:lpstr>
      <vt:lpstr>LinkedHashSet</vt:lpstr>
      <vt:lpstr>TreeSet</vt:lpstr>
      <vt:lpstr>Queue Interface</vt:lpstr>
      <vt:lpstr>PowerPoint Presentation</vt:lpstr>
      <vt:lpstr>PowerPoint Presentation</vt:lpstr>
      <vt:lpstr>PriorityQueue</vt:lpstr>
      <vt:lpstr>Deque Interface</vt:lpstr>
      <vt:lpstr>Map Interface (Not a Collection)</vt:lpstr>
      <vt:lpstr>PowerPoint Presentation</vt:lpstr>
      <vt:lpstr>PowerPoint Presentation</vt:lpstr>
      <vt:lpstr>HashMap</vt:lpstr>
      <vt:lpstr>LinkedHashMap</vt:lpstr>
      <vt:lpstr>TreeMap</vt:lpstr>
      <vt:lpstr>Hashtable (Legacy)</vt:lpstr>
      <vt:lpstr>Iterator &amp; ListIterator</vt:lpstr>
      <vt:lpstr>Collections Utility Class</vt:lpstr>
      <vt:lpstr>Comparable vs Comparator</vt:lpstr>
      <vt:lpstr>Thread Safety in Collections</vt:lpstr>
      <vt:lpstr>Fail‑Fast vs Fail‑Safe</vt:lpstr>
      <vt:lpstr>Summary (Interview Gold)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Framework in Java – Full Topic</dc:title>
  <dc:subject/>
  <dc:creator>LENOVO</dc:creator>
  <cp:keywords/>
  <dc:description>generated using python-pptx</dc:description>
  <cp:lastModifiedBy>LENOVO</cp:lastModifiedBy>
  <cp:revision>17</cp:revision>
  <dcterms:created xsi:type="dcterms:W3CDTF">2013-01-27T09:14:16Z</dcterms:created>
  <dcterms:modified xsi:type="dcterms:W3CDTF">2026-02-24T13:03:49Z</dcterms:modified>
  <cp:category/>
</cp:coreProperties>
</file>