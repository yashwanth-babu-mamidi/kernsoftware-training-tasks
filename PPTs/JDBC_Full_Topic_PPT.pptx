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69" r:id="rId9"/>
    <p:sldId id="270" r:id="rId10"/>
    <p:sldId id="261" r:id="rId11"/>
    <p:sldId id="271" r:id="rId12"/>
    <p:sldId id="262" r:id="rId13"/>
    <p:sldId id="272" r:id="rId14"/>
    <p:sldId id="263" r:id="rId15"/>
    <p:sldId id="273" r:id="rId16"/>
    <p:sldId id="274" r:id="rId17"/>
    <p:sldId id="264" r:id="rId18"/>
    <p:sldId id="265" r:id="rId19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(Java Database Connectivity)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JDBC Full Topic Explanation</a:t>
            </a:r>
          </a:p>
          <a:p>
            <a:r>
              <a:t>Exam Ready + Interview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JDBC?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JDBC (Java Database Connectivity) is a standard Java API that allows Java applications to connect to databases, execute SQL queries, and process results.</a:t>
            </a:r>
          </a:p>
          <a:p>
            <a:endParaRPr/>
          </a:p>
          <a:p>
            <a:r>
              <a:t>JDBC acts as a bridge between Java programs and databases.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JDBC is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Without JDBC:</a:t>
            </a:r>
          </a:p>
          <a:p>
            <a:r>
              <a:rPr sz="2800" dirty="0"/>
              <a:t>• Java programs cannot communicate with databases</a:t>
            </a:r>
          </a:p>
          <a:p>
            <a:r>
              <a:rPr sz="2800" dirty="0"/>
              <a:t>• Database operations are not possible</a:t>
            </a:r>
          </a:p>
          <a:p>
            <a:endParaRPr sz="2800" dirty="0"/>
          </a:p>
          <a:p>
            <a:r>
              <a:rPr sz="2800" dirty="0"/>
              <a:t>With JDBC:</a:t>
            </a:r>
          </a:p>
          <a:p>
            <a:r>
              <a:rPr sz="2800" dirty="0"/>
              <a:t>• Java can interact with databases like MySQL, Oracle, PostgreSQL</a:t>
            </a:r>
          </a:p>
          <a:p>
            <a:r>
              <a:rPr sz="2800" dirty="0"/>
              <a:t>• Used in web, enterprise, and desktop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91E9-FCE6-4570-A8C1-C3741AE2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112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1026" name="Picture 2" descr="▷ Java Database Connectivity (JDBC): Steps Explained with Examples">
            <a:extLst>
              <a:ext uri="{FF2B5EF4-FFF2-40B4-BE49-F238E27FC236}">
                <a16:creationId xmlns:a16="http://schemas.microsoft.com/office/drawing/2014/main" id="{3CC05EA7-6D8C-449B-AFEF-3E8BF4C15C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22" y="514350"/>
            <a:ext cx="8046156" cy="606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5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Application</a:t>
            </a:r>
          </a:p>
          <a:p>
            <a:r>
              <a:t>JDBC API</a:t>
            </a:r>
          </a:p>
          <a:p>
            <a:r>
              <a:t>DriverManager</a:t>
            </a:r>
          </a:p>
          <a:p>
            <a:r>
              <a:t>JDBC Driver</a:t>
            </a:r>
          </a:p>
          <a:p>
            <a:r>
              <a:t>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Type 1: JDBC-ODBC Bridge</a:t>
            </a:r>
          </a:p>
          <a:p>
            <a:r>
              <a:rPr dirty="0"/>
              <a:t>Type 2: Native API Driver</a:t>
            </a:r>
          </a:p>
          <a:p>
            <a:r>
              <a:rPr dirty="0"/>
              <a:t>Type 3: Network Protocol Driver</a:t>
            </a:r>
          </a:p>
          <a:p>
            <a:r>
              <a:rPr dirty="0"/>
              <a:t>Type 4: Thin Driver (Most Used)</a:t>
            </a: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Type 4 driver is recommended</a:t>
            </a:r>
            <a:r>
              <a:rPr lang="en-US" dirty="0"/>
              <a:t> (fast, portable)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15235E-B2AC-4B4C-B84D-CB12EE960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2050" name="Picture 2" descr="JDBC Driver Types">
            <a:extLst>
              <a:ext uri="{FF2B5EF4-FFF2-40B4-BE49-F238E27FC236}">
                <a16:creationId xmlns:a16="http://schemas.microsoft.com/office/drawing/2014/main" id="{96784797-D349-48EA-9604-4B70829783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274638"/>
            <a:ext cx="8915400" cy="6308724"/>
          </a:xfrm>
        </p:spPr>
      </p:pic>
    </p:spTree>
    <p:extLst>
      <p:ext uri="{BB962C8B-B14F-4D97-AF65-F5344CB8AC3E}">
        <p14:creationId xmlns:p14="http://schemas.microsoft.com/office/powerpoint/2010/main" val="174575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Use the Type 4 JDBC Driver">
            <a:extLst>
              <a:ext uri="{FF2B5EF4-FFF2-40B4-BE49-F238E27FC236}">
                <a16:creationId xmlns:a16="http://schemas.microsoft.com/office/drawing/2014/main" id="{08C4F762-D621-425D-8EFC-0C2CF95724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9144001" cy="660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627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7585-0598-43DA-B706-EB9D7715C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9D6969-A30D-4236-8E2E-99D9220FF8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090528"/>
              </p:ext>
            </p:extLst>
          </p:nvPr>
        </p:nvGraphicFramePr>
        <p:xfrm>
          <a:off x="457200" y="774382"/>
          <a:ext cx="8229600" cy="501205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78786482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090930410"/>
                    </a:ext>
                  </a:extLst>
                </a:gridCol>
              </a:tblGrid>
              <a:tr h="1336548">
                <a:tc>
                  <a:txBody>
                    <a:bodyPr/>
                    <a:lstStyle/>
                    <a:p>
                      <a:r>
                        <a:rPr lang="en-US" sz="2400"/>
                        <a:t>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545063"/>
                  </a:ext>
                </a:extLst>
              </a:tr>
              <a:tr h="1336548">
                <a:tc>
                  <a:txBody>
                    <a:bodyPr/>
                    <a:lstStyle/>
                    <a:p>
                      <a:r>
                        <a:rPr lang="en-US" sz="2400"/>
                        <a:t>java.sql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Core JDBC interfaces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145612"/>
                  </a:ext>
                </a:extLst>
              </a:tr>
              <a:tr h="2338959">
                <a:tc>
                  <a:txBody>
                    <a:bodyPr/>
                    <a:lstStyle/>
                    <a:p>
                      <a:r>
                        <a:rPr lang="en-US" sz="2400"/>
                        <a:t>javax.sql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Advanced features (Connection Pooling, </a:t>
                      </a:r>
                      <a:r>
                        <a:rPr lang="en-US" sz="2400" dirty="0" err="1"/>
                        <a:t>RowSet</a:t>
                      </a:r>
                      <a:r>
                        <a:rPr lang="en-US" sz="2400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217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181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JDBC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DriverManager</a:t>
            </a:r>
          </a:p>
          <a:p>
            <a:r>
              <a:t>Connection</a:t>
            </a:r>
          </a:p>
          <a:p>
            <a:r>
              <a:t>Statement</a:t>
            </a:r>
          </a:p>
          <a:p>
            <a:r>
              <a:t>PreparedStatement</a:t>
            </a:r>
          </a:p>
          <a:p>
            <a:r>
              <a:t>CallableStatement</a:t>
            </a:r>
          </a:p>
          <a:p>
            <a:r>
              <a:t>ResultSet</a:t>
            </a:r>
          </a:p>
          <a:p>
            <a:r>
              <a:t>SQLException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E68B-0EE7-4300-B0CA-9AEF19FE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97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F80C76-67AF-49A1-93E1-E168A8008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0991672"/>
              </p:ext>
            </p:extLst>
          </p:nvPr>
        </p:nvGraphicFramePr>
        <p:xfrm>
          <a:off x="457200" y="585788"/>
          <a:ext cx="8229600" cy="6129333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13411747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776662701"/>
                    </a:ext>
                  </a:extLst>
                </a:gridCol>
              </a:tblGrid>
              <a:tr h="681037">
                <a:tc>
                  <a:txBody>
                    <a:bodyPr/>
                    <a:lstStyle/>
                    <a:p>
                      <a:r>
                        <a:rPr lang="en-US" sz="2000"/>
                        <a:t>Interface /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724931"/>
                  </a:ext>
                </a:extLst>
              </a:tr>
              <a:tr h="681037">
                <a:tc>
                  <a:txBody>
                    <a:bodyPr/>
                    <a:lstStyle/>
                    <a:p>
                      <a:r>
                        <a:rPr lang="en-US" sz="2000"/>
                        <a:t>DriverManager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Manages JDBC drivers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916629"/>
                  </a:ext>
                </a:extLst>
              </a:tr>
              <a:tr h="681037">
                <a:tc>
                  <a:txBody>
                    <a:bodyPr/>
                    <a:lstStyle/>
                    <a:p>
                      <a:r>
                        <a:rPr lang="en-US" sz="2000"/>
                        <a:t>Driver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Database-specific driver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515061"/>
                  </a:ext>
                </a:extLst>
              </a:tr>
              <a:tr h="681037">
                <a:tc>
                  <a:txBody>
                    <a:bodyPr/>
                    <a:lstStyle/>
                    <a:p>
                      <a:r>
                        <a:rPr lang="en-US" sz="2000"/>
                        <a:t>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Establishes DB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634133"/>
                  </a:ext>
                </a:extLst>
              </a:tr>
              <a:tr h="681037">
                <a:tc>
                  <a:txBody>
                    <a:bodyPr/>
                    <a:lstStyle/>
                    <a:p>
                      <a:r>
                        <a:rPr lang="en-US" sz="2000" dirty="0"/>
                        <a:t>Statement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Executes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292906"/>
                  </a:ext>
                </a:extLst>
              </a:tr>
              <a:tr h="681037">
                <a:tc>
                  <a:txBody>
                    <a:bodyPr/>
                    <a:lstStyle/>
                    <a:p>
                      <a:r>
                        <a:rPr lang="en-US" sz="2000"/>
                        <a:t>PreparedStatement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Precompiled 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654946"/>
                  </a:ext>
                </a:extLst>
              </a:tr>
              <a:tr h="681037">
                <a:tc>
                  <a:txBody>
                    <a:bodyPr/>
                    <a:lstStyle/>
                    <a:p>
                      <a:r>
                        <a:rPr lang="en-US" sz="2000"/>
                        <a:t>CallableStatement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Calls stored procedures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056376"/>
                  </a:ext>
                </a:extLst>
              </a:tr>
              <a:tr h="681037">
                <a:tc>
                  <a:txBody>
                    <a:bodyPr/>
                    <a:lstStyle/>
                    <a:p>
                      <a:r>
                        <a:rPr lang="en-US" sz="2000"/>
                        <a:t>ResultSet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Holds query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069"/>
                  </a:ext>
                </a:extLst>
              </a:tr>
              <a:tr h="681037">
                <a:tc>
                  <a:txBody>
                    <a:bodyPr/>
                    <a:lstStyle/>
                    <a:p>
                      <a:r>
                        <a:rPr lang="en-US" sz="2000"/>
                        <a:t>SQLException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Handles DB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640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982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in JDBC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Driver</a:t>
            </a:r>
          </a:p>
          <a:p>
            <a:r>
              <a:t>2. Establish Connection</a:t>
            </a:r>
          </a:p>
          <a:p>
            <a:r>
              <a:t>3. Create Statement</a:t>
            </a:r>
          </a:p>
          <a:p>
            <a:r>
              <a:t>4. Execute SQL</a:t>
            </a:r>
          </a:p>
          <a:p>
            <a:r>
              <a:t>5. Process ResultSet</a:t>
            </a:r>
          </a:p>
          <a:p>
            <a:r>
              <a:t>6. Close Connection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EE16-5F53-40D8-9F2A-673AD0473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6146" name="Picture 2" descr="What is the JDBC Life Cycle?">
            <a:extLst>
              <a:ext uri="{FF2B5EF4-FFF2-40B4-BE49-F238E27FC236}">
                <a16:creationId xmlns:a16="http://schemas.microsoft.com/office/drawing/2014/main" id="{68E4CF37-13DC-40E8-8F7B-1304E8F18B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471488"/>
            <a:ext cx="6229349" cy="611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568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vs PreparedStatement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Statement:</a:t>
            </a:r>
          </a:p>
          <a:p>
            <a:r>
              <a:t>• Dynamic SQL</a:t>
            </a:r>
          </a:p>
          <a:p>
            <a:r>
              <a:t>• Slower</a:t>
            </a:r>
          </a:p>
          <a:p>
            <a:r>
              <a:t>• SQL Injection risk</a:t>
            </a:r>
          </a:p>
          <a:p>
            <a:endParaRPr/>
          </a:p>
          <a:p>
            <a:r>
              <a:t>PreparedStatement:</a:t>
            </a:r>
          </a:p>
          <a:p>
            <a:r>
              <a:t>• Precompiled</a:t>
            </a:r>
          </a:p>
          <a:p>
            <a:r>
              <a:t>• Faster</a:t>
            </a:r>
          </a:p>
          <a:p>
            <a:r>
              <a:t>• Secure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B11A2-6C13-4B74-BC49-618D40557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String </a:t>
            </a:r>
            <a:r>
              <a:rPr lang="en-US" dirty="0" err="1"/>
              <a:t>sql</a:t>
            </a:r>
            <a:r>
              <a:rPr lang="en-US" dirty="0"/>
              <a:t> = "INSERT INTO student(name, marks) VALUES (?, ?)";</a:t>
            </a:r>
          </a:p>
          <a:p>
            <a:r>
              <a:rPr lang="en-US" dirty="0" err="1"/>
              <a:t>PreparedStatement</a:t>
            </a:r>
            <a:r>
              <a:rPr lang="en-US" dirty="0"/>
              <a:t> </a:t>
            </a:r>
            <a:r>
              <a:rPr lang="en-US" dirty="0" err="1"/>
              <a:t>ps</a:t>
            </a:r>
            <a:r>
              <a:rPr lang="en-US" dirty="0"/>
              <a:t> = </a:t>
            </a:r>
            <a:r>
              <a:rPr lang="en-US" dirty="0" err="1"/>
              <a:t>con.prepareStatement</a:t>
            </a:r>
            <a:r>
              <a:rPr lang="en-US" dirty="0"/>
              <a:t>(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 err="1"/>
              <a:t>ps.setString</a:t>
            </a:r>
            <a:r>
              <a:rPr lang="en-US" dirty="0"/>
              <a:t>(1, "Ravi");</a:t>
            </a:r>
          </a:p>
          <a:p>
            <a:r>
              <a:rPr lang="en-US" dirty="0" err="1"/>
              <a:t>ps.setInt</a:t>
            </a:r>
            <a:r>
              <a:rPr lang="en-US" dirty="0"/>
              <a:t>(2, 85);</a:t>
            </a:r>
          </a:p>
          <a:p>
            <a:endParaRPr lang="en-US" dirty="0"/>
          </a:p>
          <a:p>
            <a:r>
              <a:rPr lang="en-US" dirty="0" err="1"/>
              <a:t>ps.executeUpdate</a:t>
            </a:r>
            <a:r>
              <a:rPr lang="en-US" dirty="0"/>
              <a:t>();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0E811E-F302-41BE-B69A-B8FDED284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22976"/>
            <a:ext cx="71929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PreparedStatement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886218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AE5BE-38EC-47A0-9174-A2E8E2969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📞 </a:t>
            </a:r>
            <a:r>
              <a:rPr lang="en-US" sz="3600" b="1" dirty="0" err="1"/>
              <a:t>CallableStatement</a:t>
            </a:r>
            <a:r>
              <a:rPr lang="en-US" sz="3600" b="1" dirty="0"/>
              <a:t> (Stored Procedures)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4B1F0CB-6947-4D16-84BF-772F185626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16424"/>
            <a:ext cx="8642109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call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procedures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 err="1">
                <a:latin typeface="Arial Unicode MS"/>
              </a:rPr>
              <a:t>CallableStatement</a:t>
            </a:r>
            <a:r>
              <a:rPr lang="en-US" altLang="en-US" sz="3600" dirty="0">
                <a:latin typeface="Arial Unicode MS"/>
              </a:rPr>
              <a:t> cs =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latin typeface="Arial Unicode MS"/>
              </a:rPr>
              <a:t>    </a:t>
            </a:r>
            <a:r>
              <a:rPr lang="en-US" altLang="en-US" sz="3600" dirty="0" err="1">
                <a:latin typeface="Arial Unicode MS"/>
              </a:rPr>
              <a:t>con.prepareCall</a:t>
            </a:r>
            <a:r>
              <a:rPr lang="en-US" altLang="en-US" sz="3600" dirty="0">
                <a:latin typeface="Arial Unicode MS"/>
              </a:rPr>
              <a:t>("{call </a:t>
            </a:r>
            <a:r>
              <a:rPr lang="en-US" altLang="en-US" sz="3600" dirty="0" err="1">
                <a:latin typeface="Arial Unicode MS"/>
              </a:rPr>
              <a:t>getStudent</a:t>
            </a:r>
            <a:r>
              <a:rPr lang="en-US" altLang="en-US" sz="3600" dirty="0">
                <a:latin typeface="Arial Unicode MS"/>
              </a:rPr>
              <a:t>(?)}");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600" dirty="0">
              <a:latin typeface="Arial Unicode MS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 err="1">
                <a:latin typeface="Arial Unicode MS"/>
              </a:rPr>
              <a:t>cs.setInt</a:t>
            </a:r>
            <a:r>
              <a:rPr lang="en-US" altLang="en-US" sz="3600" dirty="0">
                <a:latin typeface="Arial Unicode MS"/>
              </a:rPr>
              <a:t>(1, 1);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 err="1">
                <a:latin typeface="Arial Unicode MS"/>
              </a:rPr>
              <a:t>ResultSet</a:t>
            </a:r>
            <a:r>
              <a:rPr lang="en-US" altLang="en-US" sz="3600" dirty="0">
                <a:latin typeface="Arial Unicode MS"/>
              </a:rPr>
              <a:t> </a:t>
            </a:r>
            <a:r>
              <a:rPr lang="en-US" altLang="en-US" sz="3600" dirty="0" err="1">
                <a:latin typeface="Arial Unicode MS"/>
              </a:rPr>
              <a:t>rs</a:t>
            </a:r>
            <a:r>
              <a:rPr lang="en-US" altLang="en-US" sz="3600" dirty="0">
                <a:latin typeface="Arial Unicode MS"/>
              </a:rPr>
              <a:t> = </a:t>
            </a:r>
            <a:r>
              <a:rPr lang="en-US" altLang="en-US" sz="3600" dirty="0" err="1">
                <a:latin typeface="Arial Unicode MS"/>
              </a:rPr>
              <a:t>cs.executeQuery</a:t>
            </a:r>
            <a:r>
              <a:rPr lang="en-US" altLang="en-US" sz="3600" dirty="0">
                <a:latin typeface="Arial Unicode MS"/>
              </a:rPr>
              <a:t>();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06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JDBC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Platform Independent</a:t>
            </a:r>
          </a:p>
          <a:p>
            <a:r>
              <a:t>• Standard API</a:t>
            </a:r>
          </a:p>
          <a:p>
            <a:r>
              <a:t>• Supports multiple databases</a:t>
            </a:r>
          </a:p>
          <a:p>
            <a:r>
              <a:t>• Fine-grained control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JDBC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Boilerplate code</a:t>
            </a:r>
          </a:p>
          <a:p>
            <a:r>
              <a:t>• Manual resource handling</a:t>
            </a:r>
          </a:p>
          <a:p>
            <a:r>
              <a:t>• SQL dependent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JDBC Full Topic Completed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386</Words>
  <Application>Microsoft Office PowerPoint</Application>
  <PresentationFormat>On-screen Show (4:3)</PresentationFormat>
  <Paragraphs>102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Unicode MS</vt:lpstr>
      <vt:lpstr>Calibri</vt:lpstr>
      <vt:lpstr>Office Theme</vt:lpstr>
      <vt:lpstr>JDBC (Java Database Connectivity)</vt:lpstr>
      <vt:lpstr>What is JDBC?</vt:lpstr>
      <vt:lpstr>Why JDBC is Needed?</vt:lpstr>
      <vt:lpstr>PowerPoint Presentation</vt:lpstr>
      <vt:lpstr>JDBC Architecture</vt:lpstr>
      <vt:lpstr>JDBC Drivers</vt:lpstr>
      <vt:lpstr>PowerPoint Presentation</vt:lpstr>
      <vt:lpstr>PowerPoint Presentation</vt:lpstr>
      <vt:lpstr>PowerPoint Presentation</vt:lpstr>
      <vt:lpstr>Core JDBC Interfaces</vt:lpstr>
      <vt:lpstr>PowerPoint Presentation</vt:lpstr>
      <vt:lpstr>Steps in JDBC</vt:lpstr>
      <vt:lpstr>PowerPoint Presentation</vt:lpstr>
      <vt:lpstr>Statement vs PreparedStatement</vt:lpstr>
      <vt:lpstr>🔹 PreparedStatement Example</vt:lpstr>
      <vt:lpstr>📞 CallableStatement (Stored Procedures) </vt:lpstr>
      <vt:lpstr>Advantages of JDBC</vt:lpstr>
      <vt:lpstr>Disadvantages of JDBC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 (Java Database Connectivity)</dc:title>
  <dc:subject/>
  <dc:creator/>
  <cp:keywords/>
  <dc:description>generated using python-pptx</dc:description>
  <cp:lastModifiedBy>LENOVO</cp:lastModifiedBy>
  <cp:revision>5</cp:revision>
  <dcterms:created xsi:type="dcterms:W3CDTF">2013-01-27T09:14:16Z</dcterms:created>
  <dcterms:modified xsi:type="dcterms:W3CDTF">2026-03-02T12:27:23Z</dcterms:modified>
  <cp:category/>
</cp:coreProperties>
</file>