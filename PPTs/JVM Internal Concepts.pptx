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76C7-BFE2-4DF9-9B78-C9EA7EF88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FBFA4-20D2-4B69-8973-1A19C5D4F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F95E1-29F3-406B-B250-B65BB52A2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95C1-F931-41BD-8AE4-8FA89627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C6C37-DB84-430D-923E-ED87F911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3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A8FE-875A-4A54-B7D7-6DB7010B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7972C-33C4-4D0C-ADC7-7EC5F6A51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DCA91-A05F-4B04-9B1D-8D5690AD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DD3-A11F-4D3D-86F7-2C5189CC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6520-2A41-4C10-A943-B7A44CCD7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1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ED7E-2BA0-4924-8D08-0572E9E6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331A9-AF8F-4DB6-AD5C-1AEFCDB04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90A43-55F3-4F5C-BB3C-981A3CCE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35587-55BB-47FA-907D-689A7952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C42C7-BF5B-4E52-A552-71CEC54E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138C-F4D5-4F81-B650-E401480F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8201-16DF-453B-AB78-A7A936F00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F59BB-74D7-4C5D-85CA-FB7127FC5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14D66-4DA6-4070-B730-03AB542DA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7261-9653-4773-B661-980835D6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DD161-10F1-41AB-B1C7-11F57E08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3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447D-CDDC-48E2-A0C6-C2142552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3C51C-3004-482F-9A61-6E77A2F8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9E0C9-20D1-4926-B37F-90AE17537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748AD-6053-491F-A109-4D858F521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2FBB2-0C6C-4F70-AE7F-71E103292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B312D-958E-4987-A810-73AA0A692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02FC0-161D-4B97-A14D-79408746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22606-AEC1-42B9-8995-69DC6393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1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1329-2947-4077-B00E-813C81B2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BACC0-D31C-4659-97C0-C36A03BC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0D897-1218-4EE5-8340-C7F1EE78E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F716A-4E77-46D8-80BD-030FA131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0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69016-A651-4973-BEA1-5608E8478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06647D-E9AE-4019-951D-4A04F2F5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BC861-71B5-4D48-AD34-B89B0429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7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CB9D-DF89-4014-9FE4-26B13E80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03A1-48AD-43A8-8238-D2F628367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5360E-64C8-4B71-94DC-377DBAFDE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8A70D-435B-40CB-9F60-5A8A2CDF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4D1C0-B8D8-4C81-B5DE-1FAE790C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022B3-22BB-4AF9-B1AE-A33955F6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4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9783-67F3-4E0D-9E51-043D490F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61028-F7FD-4451-B176-87A26D64F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B9F2B-A5FD-4A47-A8D1-1D354D287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93FDC-AE40-47BC-B033-D4FB2071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B3205-62AC-4AAF-B6E2-3BA686188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89E94-AD79-41AC-BBA1-C549375A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2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7ABB-1BA4-48F1-96BD-96976CE4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EDF2A-F413-432F-A9B9-31BE749C7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C01AE-1E86-4D9E-8FA9-8728A0F4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9CC2-09FC-48C3-81F1-B082291E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C571-44E6-4554-9395-D7463920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46FBE-337C-40EF-BC18-A4DFA592B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8A6F9-B07B-47CF-86AD-8E1E537C4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8BCA-4884-47A1-8DF7-00C2E8D3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61B63-CB6D-40AB-B6F5-BA0D507A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100F-E657-4F9C-AB39-738F04DE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66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9EF7-E744-47D6-9341-DE0CA207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7A4D0-AC65-4EB6-9BD7-F207C8229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B1224-957C-423E-802A-2A6AC2A9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7A3E1-54AF-4924-90EE-4A46997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0EA9-E7E6-4512-AD7A-7F4F2BF5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7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8FAF31-F733-49E7-8064-17F4B3E6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05E4-823B-49FE-BA7F-992C8B150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9F6F-1BF7-43E9-ADE6-4E05E8B63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5CE86-1E6C-4CA3-A839-874A5F81B96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19759-4FA6-4F9B-9DE4-4D70F3276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06389-B8CB-4ACF-9259-C951DDCDB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73E8A-0E4A-453C-9A28-393DB85C5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3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43BF-B485-4A96-87EF-DC3D91EBE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JVM Internal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2D1D-A916-40E8-9806-C88F9EDCB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Deep Dive into Memory, Class Loading, and GC</a:t>
            </a:r>
          </a:p>
          <a:p>
            <a:r>
              <a:rPr lang="en-US"/>
              <a:t>Reference: Slideshare JVM Internals</a:t>
            </a:r>
          </a:p>
        </p:txBody>
      </p:sp>
    </p:spTree>
    <p:extLst>
      <p:ext uri="{BB962C8B-B14F-4D97-AF65-F5344CB8AC3E}">
        <p14:creationId xmlns:p14="http://schemas.microsoft.com/office/powerpoint/2010/main" val="922681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AE2F-01C2-4A37-8832-A0C4489E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 vs Stack –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B9F78-3065-45FC-903B-80E9A319E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Stack: Stores local variables and method calls (LIFO).</a:t>
            </a:r>
          </a:p>
          <a:p>
            <a:r>
              <a:rPr lang="en-US"/>
              <a:t>• Heap: Stores all objects and JRE classes (Shared).</a:t>
            </a:r>
          </a:p>
          <a:p>
            <a:r>
              <a:rPr lang="en-US"/>
              <a:t>• Stack is fast; Heap is for large, dynamic data.</a:t>
            </a:r>
          </a:p>
        </p:txBody>
      </p:sp>
    </p:spTree>
    <p:extLst>
      <p:ext uri="{BB962C8B-B14F-4D97-AF65-F5344CB8AC3E}">
        <p14:creationId xmlns:p14="http://schemas.microsoft.com/office/powerpoint/2010/main" val="349741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8A57-9FE8-475A-9D36-BA7C2B3C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Memory – Details &amp;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F1711-8A0A-4672-B702-0C9326D1A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Thread-safe and private.</a:t>
            </a:r>
          </a:p>
          <a:p>
            <a:r>
              <a:rPr lang="en-US"/>
              <a:t>• Example Code:</a:t>
            </a:r>
          </a:p>
          <a:p>
            <a:r>
              <a:rPr lang="en-US"/>
              <a:t>  void myMethod() {</a:t>
            </a:r>
          </a:p>
          <a:p>
            <a:r>
              <a:rPr lang="en-US"/>
              <a:t>    int x = 10; // Stack</a:t>
            </a:r>
          </a:p>
          <a:p>
            <a:r>
              <a:rPr lang="en-US"/>
              <a:t>    Object obj = new Object(); // Ref in Stack</a:t>
            </a:r>
          </a:p>
          <a:p>
            <a:r>
              <a:rPr lang="en-US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80239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422B-90AF-4F78-B53A-CE37DDBB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 Memory – Details &amp;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54C08-94F8-42B2-B8EC-57C095967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Shared across threads.</a:t>
            </a:r>
          </a:p>
          <a:p>
            <a:r>
              <a:rPr lang="en-US"/>
              <a:t>• Managed by Garbage Collector.</a:t>
            </a:r>
          </a:p>
          <a:p>
            <a:r>
              <a:rPr lang="en-US"/>
              <a:t>• Example Code:</a:t>
            </a:r>
          </a:p>
          <a:p>
            <a:r>
              <a:rPr lang="en-US"/>
              <a:t>  public class Main {</a:t>
            </a:r>
          </a:p>
          <a:p>
            <a:r>
              <a:rPr lang="en-US"/>
              <a:t>    User u = new User(); // Object in Heap</a:t>
            </a:r>
          </a:p>
          <a:p>
            <a:r>
              <a:rPr lang="en-US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251746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57C6-F016-4D18-8461-997C636F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Heap vs Stack –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93E1C-669C-4117-A554-DFEEBD3A3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 | Stack | Heap</a:t>
            </a:r>
          </a:p>
          <a:p>
            <a:r>
              <a:rPr lang="en-US"/>
              <a:t>Size | Small | Large</a:t>
            </a:r>
          </a:p>
          <a:p>
            <a:r>
              <a:rPr lang="en-US"/>
              <a:t>Order | LIFO | Random</a:t>
            </a:r>
          </a:p>
          <a:p>
            <a:r>
              <a:rPr lang="en-US"/>
              <a:t>Error | StackOverflow | OutOfMemory</a:t>
            </a:r>
          </a:p>
        </p:txBody>
      </p:sp>
    </p:spTree>
    <p:extLst>
      <p:ext uri="{BB962C8B-B14F-4D97-AF65-F5344CB8AC3E}">
        <p14:creationId xmlns:p14="http://schemas.microsoft.com/office/powerpoint/2010/main" val="187795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3999-34C1-432B-BD1D-48EC2321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Diagram: Heap vs Stack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06C0D-F81A-4A28-A2A7-359734A87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[Insert JVM Memory Layout Image Here]</a:t>
            </a:r>
          </a:p>
        </p:txBody>
      </p:sp>
    </p:spTree>
    <p:extLst>
      <p:ext uri="{BB962C8B-B14F-4D97-AF65-F5344CB8AC3E}">
        <p14:creationId xmlns:p14="http://schemas.microsoft.com/office/powerpoint/2010/main" val="7853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80CC-31BC-4A10-BE8F-FCDB57BF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Garbage Collector (GC) –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14E7A-3948-493C-AA8D-622E425BB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Automatic memory management.</a:t>
            </a:r>
          </a:p>
          <a:p>
            <a:r>
              <a:rPr lang="en-US"/>
              <a:t>• Tracks 'reachable' vs 'unreachable' objects.</a:t>
            </a:r>
          </a:p>
          <a:p>
            <a:r>
              <a:rPr lang="en-US"/>
              <a:t>• Minimizes manual memory handling errors.</a:t>
            </a:r>
          </a:p>
        </p:txBody>
      </p:sp>
    </p:spTree>
    <p:extLst>
      <p:ext uri="{BB962C8B-B14F-4D97-AF65-F5344CB8AC3E}">
        <p14:creationId xmlns:p14="http://schemas.microsoft.com/office/powerpoint/2010/main" val="103327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A818-7D34-4BFF-9B00-4121B5FB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Garbage Collection 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5BC73-A6CC-4E19-942C-A75EFEFFD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Mark: Identify live objects.</a:t>
            </a:r>
          </a:p>
          <a:p>
            <a:r>
              <a:rPr lang="en-US"/>
              <a:t>2. Sweep: Remove dead objects.</a:t>
            </a:r>
          </a:p>
          <a:p>
            <a:r>
              <a:rPr lang="en-US"/>
              <a:t>3. Compact: Rearrange memory to avoid gaps.</a:t>
            </a:r>
          </a:p>
        </p:txBody>
      </p:sp>
    </p:spTree>
    <p:extLst>
      <p:ext uri="{BB962C8B-B14F-4D97-AF65-F5344CB8AC3E}">
        <p14:creationId xmlns:p14="http://schemas.microsoft.com/office/powerpoint/2010/main" val="224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A633-42C2-4078-BCBE-A8A2287F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Diagram: GC Mark-Sweep-Compact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846B7-F1DF-489B-BD86-699EE5C4A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[Insert GC Lifecycle Image Here]</a:t>
            </a:r>
          </a:p>
        </p:txBody>
      </p:sp>
    </p:spTree>
    <p:extLst>
      <p:ext uri="{BB962C8B-B14F-4D97-AF65-F5344CB8AC3E}">
        <p14:creationId xmlns:p14="http://schemas.microsoft.com/office/powerpoint/2010/main" val="221821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D8965-295F-4C02-BE3D-BC5922F2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Loader –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E16F0-F2D9-4018-A0C4-BBA262E3A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Responsible for loading .class files.</a:t>
            </a:r>
          </a:p>
          <a:p>
            <a:r>
              <a:rPr lang="en-US"/>
              <a:t>• Happens dynamically at runtime.</a:t>
            </a:r>
          </a:p>
          <a:p>
            <a:r>
              <a:rPr lang="en-US"/>
              <a:t>• Follows the Delegation Model.</a:t>
            </a:r>
          </a:p>
        </p:txBody>
      </p:sp>
    </p:spTree>
    <p:extLst>
      <p:ext uri="{BB962C8B-B14F-4D97-AF65-F5344CB8AC3E}">
        <p14:creationId xmlns:p14="http://schemas.microsoft.com/office/powerpoint/2010/main" val="224450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95D5-349C-4C70-B222-D76C484F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Class Loaders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5F7FF-6433-4588-B044-63E3F6228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Bootstrap (rt.jar)</a:t>
            </a:r>
          </a:p>
          <a:p>
            <a:r>
              <a:rPr lang="en-US"/>
              <a:t>2. Extension (lib/ext)</a:t>
            </a:r>
          </a:p>
          <a:p>
            <a:r>
              <a:rPr lang="en-US"/>
              <a:t>3. System/Application (Classpath)</a:t>
            </a:r>
          </a:p>
        </p:txBody>
      </p:sp>
    </p:spTree>
    <p:extLst>
      <p:ext uri="{BB962C8B-B14F-4D97-AF65-F5344CB8AC3E}">
        <p14:creationId xmlns:p14="http://schemas.microsoft.com/office/powerpoint/2010/main" val="9940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55B5-28C3-4B6F-BE46-CFF34129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Leaks –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6058-51E8-4820-A2E4-751A32C5B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Occurs when unused objects are still referenced.</a:t>
            </a:r>
          </a:p>
          <a:p>
            <a:r>
              <a:rPr lang="en-US"/>
              <a:t>• GC cannot reclaim this memory.</a:t>
            </a:r>
          </a:p>
          <a:p>
            <a:r>
              <a:rPr lang="en-US"/>
              <a:t>• Leads to gradual performance degradation.</a:t>
            </a:r>
          </a:p>
        </p:txBody>
      </p:sp>
    </p:spTree>
    <p:extLst>
      <p:ext uri="{BB962C8B-B14F-4D97-AF65-F5344CB8AC3E}">
        <p14:creationId xmlns:p14="http://schemas.microsoft.com/office/powerpoint/2010/main" val="3313309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9988-C146-489C-BD26-8C8E6B42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Constant Pool (SCP)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2D6E0-B65A-43A6-A801-F51F0227C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Specialized area in Heap for String literals.</a:t>
            </a:r>
          </a:p>
          <a:p>
            <a:r>
              <a:rPr lang="en-US"/>
              <a:t>• 'String s = 'abc';' uses SCP.</a:t>
            </a:r>
          </a:p>
          <a:p>
            <a:r>
              <a:rPr lang="en-US"/>
              <a:t>• Prevents redundant object creation.</a:t>
            </a:r>
          </a:p>
        </p:txBody>
      </p:sp>
    </p:spTree>
    <p:extLst>
      <p:ext uri="{BB962C8B-B14F-4D97-AF65-F5344CB8AC3E}">
        <p14:creationId xmlns:p14="http://schemas.microsoft.com/office/powerpoint/2010/main" val="2838936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69B0-7436-4E22-BD13-7E2F02CB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Diagram: String Constant Pool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D2CDD-9233-478A-974C-0EB020A1A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[Insert SCP vs Heap Memory Image Here]</a:t>
            </a:r>
          </a:p>
        </p:txBody>
      </p:sp>
    </p:spTree>
    <p:extLst>
      <p:ext uri="{BB962C8B-B14F-4D97-AF65-F5344CB8AC3E}">
        <p14:creationId xmlns:p14="http://schemas.microsoft.com/office/powerpoint/2010/main" val="168686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0D74-76EA-440A-A661-6590FA6F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One-Line Summary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9E14D-5299-4DE2-A153-9D22DE479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Understanding JVM is about mastering memory (Heap/Stack), efficient cleanup (GC), and class visibility (ClassLoader).</a:t>
            </a:r>
          </a:p>
        </p:txBody>
      </p:sp>
    </p:spTree>
    <p:extLst>
      <p:ext uri="{BB962C8B-B14F-4D97-AF65-F5344CB8AC3E}">
        <p14:creationId xmlns:p14="http://schemas.microsoft.com/office/powerpoint/2010/main" val="256605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394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JVM Internal Concepts</vt:lpstr>
      <vt:lpstr>Heap vs Stack – Definition</vt:lpstr>
      <vt:lpstr>Stack Memory – Details &amp; Code</vt:lpstr>
      <vt:lpstr>Heap Memory – Details &amp; Code</vt:lpstr>
      <vt:lpstr>Heap vs Stack – Comparison</vt:lpstr>
      <vt:lpstr>Diagram: Heap vs Stack Architecture</vt:lpstr>
      <vt:lpstr>Garbage Collector (GC) – Definition</vt:lpstr>
      <vt:lpstr>Garbage Collection Phases</vt:lpstr>
      <vt:lpstr>Diagram: GC Mark-Sweep-Compact</vt:lpstr>
      <vt:lpstr>Class Loader – Definition</vt:lpstr>
      <vt:lpstr>Types of Class Loaders</vt:lpstr>
      <vt:lpstr>Memory Leaks – Definition</vt:lpstr>
      <vt:lpstr>String Constant Pool (SCP)</vt:lpstr>
      <vt:lpstr>Diagram: String Constant Pool</vt:lpstr>
      <vt:lpstr>One-Line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JVM Internal Concepts</dc:title>
  <dc:creator>LENOVO</dc:creator>
  <cp:lastModifiedBy>LENOVO</cp:lastModifiedBy>
  <cp:revision>3</cp:revision>
  <dcterms:created xsi:type="dcterms:W3CDTF">2026-02-17T10:06:20Z</dcterms:created>
  <dcterms:modified xsi:type="dcterms:W3CDTF">2026-02-17T12:52:46Z</dcterms:modified>
</cp:coreProperties>
</file>