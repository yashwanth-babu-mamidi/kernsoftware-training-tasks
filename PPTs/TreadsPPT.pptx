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0108D-0ADB-4156-AC87-047349880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15786-B79C-45DB-9F1A-4F699EAE5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D8ECD-49C0-49E9-A95B-BA3E8D60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63BDB-C11E-49FD-B58A-E1D4A954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C9828-20EA-4E86-A949-00B1AFD7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9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FAAB-EB8E-4E42-B673-CD890A2C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F6344-40B5-4A22-B0B5-10768305D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D6663-8AAF-4106-A7BB-4735CA65B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0CB16-AC09-4BD9-A145-573A5ADB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35A03-A2EB-4CAE-9EE7-69D88D68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4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E928-F6DA-4FF2-910B-1C372B50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529F8-3B7B-4D74-8557-A1146A2D1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FA3D3-831B-4984-B76B-8844A3838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8F3E-E5FE-4183-AC69-A82222C8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E7B9B-E02B-46FE-B3EF-6A7D2DDF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33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3166-DDBB-4977-A3AB-051EAEB0C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2C2B1-0EEA-44FA-9B06-77E54C96B7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59FB4-DA23-440B-B2EA-0CCE1040D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6FDFD-8189-4305-83D2-BC2793B6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0211F-EEDD-491E-B34F-9484B026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F6FC1-9BD7-4E76-95B6-5169559C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2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66EF-32DE-4866-B0C7-C27BD8895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C98CB-A3B2-400E-8CBA-89D8046EF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D6FA9-0410-408D-842E-79996B629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5C90C2-E542-4969-875F-D91188BA3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AC72ED-57FA-400E-B144-65B17C0AC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E9E40E-2B5F-4A5B-AA58-9AC4E882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38941-3CC5-45D5-89C8-1F6D0662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03A361-C480-4B9B-B8D4-6F5A4AE7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8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2C26-E301-439B-88DE-9E49EDF84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957F7-650A-4332-9AEF-EA24B823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EE948-0584-4A07-8A63-869F4867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8D1EA-1122-4FA2-A4E6-B4352484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5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4CF7E9-0BFC-44BB-A74D-4AC9C2FE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92255-5A90-49BE-A32B-5E79F029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B6564-5C2D-4752-B010-3BF5F978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1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A506-CC4E-4AC8-80B9-09BFFA19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1376F-E9E3-44B6-A05E-ED9339200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7390D-6E25-43B2-869D-39DCC4179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B28B8-8A9E-400D-AA93-DCFC643B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90E54-47B2-472D-93F7-89C5F31F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BF535-72B4-411B-94C2-35CC17CC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1235D-905C-43EC-8475-3F31F4A52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4FA1F-2B0B-4684-BE0E-F997B6C7A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BD0E7-9363-4D0D-9DC8-766C44A07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4AEEB-6980-4A8C-B1B4-67FFBA72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CCF3C-3B70-43ED-B364-110C94E3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79F6A-C878-4EB0-895E-54E783DB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AD7D-724D-415A-8B32-F18D33CE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D8FF7-A660-44D6-B3A4-58E09D903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87D4A-3F01-4A1F-9ED6-EF3DAC16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8B973-51F0-469B-AC54-5F7DCC03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3A336-D74D-4E59-9E94-B2DC0615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62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6FF31-8169-4DCF-A60A-C6E36A8EA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FB020-C6B2-4633-AF7E-63173091F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E041-C8B8-4064-9BF6-E0E94AD0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25168-CAB8-403E-BEE1-BCC380805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825E7-719E-46CB-B323-1F2EE880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28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4D62-D98B-41E3-82E1-15B3FB27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9747B-D350-4775-9522-66389E674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F7D8D-DFD8-460A-9C89-3D88BFB1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491D9-4C0C-4AD1-BAC9-17EBB030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4CB09-6DF1-4BA0-8862-6880D3CD8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3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EBA5B0-70A2-4983-BF97-4C147CBDF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BB5E3-102E-4876-877C-EF2495644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854ED-22FC-4142-AC4E-7977273DF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D70A-36B3-4C07-89EA-129440732D2E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73288-920C-4147-AA89-D233AC1B0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FAA23-DC44-4F68-B0E3-DE167F97E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CAED4-A7BD-4719-BE25-FABEC04E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091C-8DA9-4FE2-BCBB-5E98E312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What is a Thread?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85FFD-709E-4BE9-8133-FA1C6218D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Definition: The smallest unit of execution inside a process.</a:t>
            </a:r>
          </a:p>
          <a:p>
            <a:r>
              <a:rPr lang="en-US" sz="1600"/>
              <a:t>Example: Chrome (Process) -&gt; Tabs (Threads). One downloads, one renders UI.</a:t>
            </a:r>
          </a:p>
          <a:p>
            <a:r>
              <a:rPr lang="en-US" sz="1600"/>
              <a:t>In Java, every program has at least:</a:t>
            </a:r>
          </a:p>
          <a:p>
            <a:r>
              <a:rPr lang="en-US" sz="1600"/>
              <a:t>• main thread</a:t>
            </a:r>
          </a:p>
          <a:p>
            <a:r>
              <a:rPr lang="en-US" sz="1600"/>
              <a:t>• Garbage Collector (GC) thread</a:t>
            </a:r>
          </a:p>
        </p:txBody>
      </p:sp>
    </p:spTree>
    <p:extLst>
      <p:ext uri="{BB962C8B-B14F-4D97-AF65-F5344CB8AC3E}">
        <p14:creationId xmlns:p14="http://schemas.microsoft.com/office/powerpoint/2010/main" val="3343804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83B6-F88A-4EE7-B1EC-4E81AC24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What is Multithreading?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3B140-98F1-4318-8BA8-43CB76662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Definition: Running multiple threads concurrently within a single process.</a:t>
            </a:r>
          </a:p>
          <a:p>
            <a:r>
              <a:rPr lang="en-US" sz="1600"/>
              <a:t>Why? Better CPU usage, faster execution, responsive UI.</a:t>
            </a:r>
          </a:p>
          <a:p>
            <a:r>
              <a:rPr lang="en-US" sz="1600"/>
              <a:t>Scenario (Banking App):</a:t>
            </a:r>
          </a:p>
          <a:p>
            <a:r>
              <a:rPr lang="en-US" sz="1600"/>
              <a:t>• Thread 1: Balance Check</a:t>
            </a:r>
          </a:p>
          <a:p>
            <a:r>
              <a:rPr lang="en-US" sz="1600"/>
              <a:t>• Thread 2: Process Transaction</a:t>
            </a:r>
          </a:p>
          <a:p>
            <a:r>
              <a:rPr lang="en-US" sz="1600"/>
              <a:t>• Thread 3: Log Activity</a:t>
            </a:r>
          </a:p>
        </p:txBody>
      </p:sp>
    </p:spTree>
    <p:extLst>
      <p:ext uri="{BB962C8B-B14F-4D97-AF65-F5344CB8AC3E}">
        <p14:creationId xmlns:p14="http://schemas.microsoft.com/office/powerpoint/2010/main" val="109906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10E2-D260-43CE-AAFA-BCB6962C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Difference: Process vs Thread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1F720-3D7B-47F5-B787-5CEEA2699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• Memory: Process (Separate) | Thread (Shared)</a:t>
            </a:r>
          </a:p>
          <a:p>
            <a:r>
              <a:rPr lang="en-US" sz="1600" dirty="0"/>
              <a:t>• Cost: Process (High) | Thread (Low/Lightweight)</a:t>
            </a:r>
          </a:p>
          <a:p>
            <a:r>
              <a:rPr lang="en-US" sz="1600" dirty="0"/>
              <a:t>• Comm: Process (IPC) | Thread (Easy/Shared vars)</a:t>
            </a:r>
          </a:p>
          <a:p>
            <a:r>
              <a:rPr lang="en-US" sz="1600" dirty="0"/>
              <a:t>• Impact: Process crash (Isolated) | Thread crash (May affect process)</a:t>
            </a:r>
          </a:p>
        </p:txBody>
      </p:sp>
    </p:spTree>
    <p:extLst>
      <p:ext uri="{BB962C8B-B14F-4D97-AF65-F5344CB8AC3E}">
        <p14:creationId xmlns:p14="http://schemas.microsoft.com/office/powerpoint/2010/main" val="73354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D0E7-1CFD-48C3-B007-DD9991E90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Thread Life 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ADCC-A957-4D41-B30E-BF83A7F51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States: NEW -&gt; RUNNABLE -&gt; RUNNING -&gt; WAITING/BLOCKED -&gt; TERMINATED</a:t>
            </a:r>
          </a:p>
          <a:p>
            <a:r>
              <a:rPr lang="en-US" sz="1600"/>
              <a:t>• NEW: Object created</a:t>
            </a:r>
          </a:p>
          <a:p>
            <a:r>
              <a:rPr lang="en-US" sz="1600"/>
              <a:t>• RUNNABLE: start() called</a:t>
            </a:r>
          </a:p>
          <a:p>
            <a:r>
              <a:rPr lang="en-US" sz="1600"/>
              <a:t>• RUNNING: Scheduler picks it</a:t>
            </a:r>
          </a:p>
          <a:p>
            <a:r>
              <a:rPr lang="en-US" sz="1600"/>
              <a:t>• WAITING/BLOCKED: Waiting for lock/sleep</a:t>
            </a:r>
          </a:p>
          <a:p>
            <a:r>
              <a:rPr lang="en-US" sz="1600"/>
              <a:t>• TERMINATED: run() finished</a:t>
            </a:r>
          </a:p>
        </p:txBody>
      </p:sp>
    </p:spTree>
    <p:extLst>
      <p:ext uri="{BB962C8B-B14F-4D97-AF65-F5344CB8AC3E}">
        <p14:creationId xmlns:p14="http://schemas.microsoft.com/office/powerpoint/2010/main" val="347624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3501-7D31-4C67-ABFC-A036D2EA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Ways to Create a Thread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854CD-0741-41B7-8486-D06E31FAF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// 1. Extending Thread class</a:t>
            </a:r>
          </a:p>
          <a:p>
            <a:r>
              <a:rPr lang="en-US" sz="1600"/>
              <a:t>class MyThread extends Thread { public void run() { System.out.println("Running"); } }</a:t>
            </a:r>
          </a:p>
          <a:p>
            <a:endParaRPr lang="en-US" sz="1600"/>
          </a:p>
          <a:p>
            <a:r>
              <a:rPr lang="en-US" sz="1600"/>
              <a:t>// 2. Implementing Runnable (Recommended)</a:t>
            </a:r>
          </a:p>
          <a:p>
            <a:r>
              <a:rPr lang="en-US" sz="1600"/>
              <a:t>class MyRunnable implements Runnable { public void run() { ... } }</a:t>
            </a:r>
          </a:p>
          <a:p>
            <a:endParaRPr lang="en-US" sz="1600"/>
          </a:p>
          <a:p>
            <a:r>
              <a:rPr lang="en-US" sz="1600"/>
              <a:t>// 3. Using Lambda (Java 8+)</a:t>
            </a:r>
          </a:p>
          <a:p>
            <a:r>
              <a:rPr lang="en-US" sz="1600"/>
              <a:t>Thread t = new Thread(() -&gt; System.out.println("Lambda thread"));</a:t>
            </a:r>
          </a:p>
        </p:txBody>
      </p:sp>
    </p:spTree>
    <p:extLst>
      <p:ext uri="{BB962C8B-B14F-4D97-AF65-F5344CB8AC3E}">
        <p14:creationId xmlns:p14="http://schemas.microsoft.com/office/powerpoint/2010/main" val="383212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2340-4BBC-49B6-B187-1DCDEDD03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Important Thread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1DC6C-5EDC-4E78-B5E7-8137C3A5A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• start(): Creates new thread/stack and calls run().</a:t>
            </a:r>
          </a:p>
          <a:p>
            <a:r>
              <a:rPr lang="en-US" sz="1600" dirty="0"/>
              <a:t>• run(): Logic only. If called directly, no multithreading occurs.</a:t>
            </a:r>
          </a:p>
          <a:p>
            <a:r>
              <a:rPr lang="en-US" sz="1600" dirty="0"/>
              <a:t>• sleep(</a:t>
            </a:r>
            <a:r>
              <a:rPr lang="en-US" sz="1600" dirty="0" err="1"/>
              <a:t>ms</a:t>
            </a:r>
            <a:r>
              <a:rPr lang="en-US" sz="1600" dirty="0"/>
              <a:t>): Pauses thread; does NOT release lock.</a:t>
            </a:r>
          </a:p>
          <a:p>
            <a:r>
              <a:rPr lang="en-US" sz="1600" dirty="0"/>
              <a:t>• join(): Wait for another thread to finish.</a:t>
            </a:r>
          </a:p>
          <a:p>
            <a:r>
              <a:rPr lang="en-US" sz="1600" dirty="0"/>
              <a:t>• yield(): Pause current thread to allow others to run. </a:t>
            </a:r>
          </a:p>
          <a:p>
            <a:r>
              <a:rPr lang="en-US" sz="1600" dirty="0"/>
              <a:t>• wait(): Causes current thread to wait until another thread calls notify() or </a:t>
            </a:r>
            <a:r>
              <a:rPr lang="en-US" sz="1600" dirty="0" err="1"/>
              <a:t>notifyAll</a:t>
            </a:r>
            <a:r>
              <a:rPr lang="en-US" sz="1600" dirty="0"/>
              <a:t>(); releases lock.</a:t>
            </a:r>
            <a:br>
              <a:rPr lang="en-US" sz="1600" dirty="0"/>
            </a:br>
            <a:r>
              <a:rPr lang="en-US" sz="1600" dirty="0"/>
              <a:t>• notify(): Wakes up one waiting thread; does NOT release lock immediately.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dirty="0" err="1"/>
              <a:t>notifyAll</a:t>
            </a:r>
            <a:r>
              <a:rPr lang="en-US" sz="1600" dirty="0"/>
              <a:t>(): Wakes up all waiting threads; does NOT release lock immediately.</a:t>
            </a:r>
          </a:p>
          <a:p>
            <a:r>
              <a:rPr lang="en-US" sz="1600" dirty="0"/>
              <a:t>• </a:t>
            </a:r>
            <a:r>
              <a:rPr lang="en-US" sz="1600" dirty="0" err="1"/>
              <a:t>currentThread</a:t>
            </a:r>
            <a:r>
              <a:rPr lang="en-US" sz="1600" dirty="0"/>
              <a:t>(): Returns reference of currently executing thread.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dirty="0" err="1"/>
              <a:t>getName</a:t>
            </a:r>
            <a:r>
              <a:rPr lang="en-US" sz="1600" dirty="0"/>
              <a:t>(): Returns name of thread.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dirty="0" err="1"/>
              <a:t>setName</a:t>
            </a:r>
            <a:r>
              <a:rPr lang="en-US" sz="1600" dirty="0"/>
              <a:t>(String name): Sets thread name.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dirty="0" err="1"/>
              <a:t>getPriority</a:t>
            </a:r>
            <a:r>
              <a:rPr lang="en-US" sz="1600" dirty="0"/>
              <a:t>(): Returns thread priority (1–10).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dirty="0" err="1"/>
              <a:t>setPriority</a:t>
            </a:r>
            <a:r>
              <a:rPr lang="en-US" sz="1600" dirty="0"/>
              <a:t>(int priority): Sets thread priority.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dirty="0" err="1"/>
              <a:t>isAlive</a:t>
            </a:r>
            <a:r>
              <a:rPr lang="en-US" sz="1600" dirty="0"/>
              <a:t>(): Checks whether thread is still running.</a:t>
            </a:r>
            <a:br>
              <a:rPr lang="en-US" sz="1600" dirty="0"/>
            </a:br>
            <a:r>
              <a:rPr lang="en-US" sz="1600" dirty="0"/>
              <a:t>• interrupt(): Interrupts a sleeping/waiting thread.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dirty="0" err="1"/>
              <a:t>isInterrupted</a:t>
            </a:r>
            <a:r>
              <a:rPr lang="en-US" sz="1600" dirty="0"/>
              <a:t>(): Checks if thread has been interrupted.</a:t>
            </a:r>
          </a:p>
        </p:txBody>
      </p:sp>
    </p:spTree>
    <p:extLst>
      <p:ext uri="{BB962C8B-B14F-4D97-AF65-F5344CB8AC3E}">
        <p14:creationId xmlns:p14="http://schemas.microsoft.com/office/powerpoint/2010/main" val="3220335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FF23C-F7F1-4EF7-AE0C-C683E54E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Synchronization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EA94B-A74E-4632-8BFE-17359EE6F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Ensures only one thread accesses the critical section at a time.</a:t>
            </a:r>
          </a:p>
          <a:p>
            <a:endParaRPr lang="en-US" sz="1600" dirty="0"/>
          </a:p>
          <a:p>
            <a:r>
              <a:rPr lang="en-US" sz="1600" dirty="0"/>
              <a:t>// Synchronized Method (Lock = Object)</a:t>
            </a:r>
          </a:p>
          <a:p>
            <a:r>
              <a:rPr lang="en-US" sz="1600" dirty="0"/>
              <a:t>public synchronized void increment() { count++; }</a:t>
            </a:r>
          </a:p>
          <a:p>
            <a:endParaRPr lang="en-US" sz="1600" dirty="0"/>
          </a:p>
          <a:p>
            <a:r>
              <a:rPr lang="en-US" sz="1600" dirty="0"/>
              <a:t>// Synchronized Block (More Efficient)</a:t>
            </a:r>
          </a:p>
          <a:p>
            <a:r>
              <a:rPr lang="en-US" sz="1600" dirty="0"/>
              <a:t>synchronized(this) { count++; }</a:t>
            </a:r>
          </a:p>
        </p:txBody>
      </p:sp>
    </p:spTree>
    <p:extLst>
      <p:ext uri="{BB962C8B-B14F-4D97-AF65-F5344CB8AC3E}">
        <p14:creationId xmlns:p14="http://schemas.microsoft.com/office/powerpoint/2010/main" val="3546711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1BB1-A5EB-4025-8E53-D7FEAE7D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 Race Condition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8CD7E-50E5-4738-81EB-38D150D03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Occurs when multiple threads modify shared data without sync.</a:t>
            </a:r>
          </a:p>
          <a:p>
            <a:r>
              <a:rPr lang="en-US" sz="1600"/>
              <a:t>class Counter { int count = 0; void increment() { count++; } }</a:t>
            </a:r>
          </a:p>
          <a:p>
            <a:r>
              <a:rPr lang="en-US" sz="1600"/>
              <a:t>If 2 threads increment 1000 times:</a:t>
            </a:r>
          </a:p>
          <a:p>
            <a:r>
              <a:rPr lang="en-US" sz="1600"/>
              <a:t>• Expected: 2000</a:t>
            </a:r>
          </a:p>
          <a:p>
            <a:r>
              <a:rPr lang="en-US" sz="1600"/>
              <a:t>• Actual: Unpredictable (due to non-atomic operation)</a:t>
            </a:r>
          </a:p>
        </p:txBody>
      </p:sp>
    </p:spTree>
    <p:extLst>
      <p:ext uri="{BB962C8B-B14F-4D97-AF65-F5344CB8AC3E}">
        <p14:creationId xmlns:p14="http://schemas.microsoft.com/office/powerpoint/2010/main" val="3616867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ED1E-43D1-4622-920B-B62A56BA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10. Deadlock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630E3-C89A-4381-820D-5DFC988CC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When two threads wait for each other's lock forever.</a:t>
            </a:r>
          </a:p>
          <a:p>
            <a:endParaRPr lang="en-US" sz="1600"/>
          </a:p>
          <a:p>
            <a:r>
              <a:rPr lang="en-US" sz="1600"/>
              <a:t>Thread 1: synchronized(L1) { synchronized(L2) {...} }</a:t>
            </a:r>
          </a:p>
          <a:p>
            <a:r>
              <a:rPr lang="en-US" sz="1600"/>
              <a:t>Thread 2: synchronized(L2) { synchronized(L1) {...} }</a:t>
            </a:r>
          </a:p>
          <a:p>
            <a:r>
              <a:rPr lang="en-US" sz="1600"/>
              <a:t>Result: Both blocked indefinitely.</a:t>
            </a:r>
          </a:p>
        </p:txBody>
      </p:sp>
    </p:spTree>
    <p:extLst>
      <p:ext uri="{BB962C8B-B14F-4D97-AF65-F5344CB8AC3E}">
        <p14:creationId xmlns:p14="http://schemas.microsoft.com/office/powerpoint/2010/main" val="1785866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2CB1-075B-43C5-93B0-0672AC61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12. Executor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F4D3C-DC0B-43D8-B465-3EE4FA064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Provides thread pool management and task scheduling.</a:t>
            </a:r>
          </a:p>
          <a:p>
            <a:r>
              <a:rPr lang="en-US" sz="1600"/>
              <a:t>ExecutorService executor = Executors.newFixedThreadPool(3);</a:t>
            </a:r>
          </a:p>
          <a:p>
            <a:r>
              <a:rPr lang="en-US" sz="1600"/>
              <a:t>executor.submit(() -&gt; {</a:t>
            </a:r>
          </a:p>
          <a:p>
            <a:r>
              <a:rPr lang="en-US" sz="1600"/>
              <a:t>    System.out.println("Task by " + Thread.currentThread().getName());</a:t>
            </a:r>
          </a:p>
          <a:p>
            <a:r>
              <a:rPr lang="en-US" sz="1600"/>
              <a:t>});</a:t>
            </a:r>
          </a:p>
          <a:p>
            <a:r>
              <a:rPr lang="en-US" sz="1600"/>
              <a:t>executor.shutdown();</a:t>
            </a:r>
          </a:p>
        </p:txBody>
      </p:sp>
    </p:spTree>
    <p:extLst>
      <p:ext uri="{BB962C8B-B14F-4D97-AF65-F5344CB8AC3E}">
        <p14:creationId xmlns:p14="http://schemas.microsoft.com/office/powerpoint/2010/main" val="545117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4034E-7A70-4883-BFCD-F89BBDB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F6A4C-83C4-4C10-854C-004E61980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Multithreading</a:t>
            </a:r>
          </a:p>
          <a:p>
            <a:r>
              <a:rPr lang="en-US" sz="1600"/>
              <a:t>+-- Creation (Thread, Runnable, Lambda)</a:t>
            </a:r>
          </a:p>
          <a:p>
            <a:r>
              <a:rPr lang="en-US" sz="1600"/>
              <a:t>+-- Lifecycle (New -&gt; Runnable -&gt; Running -&gt; Blocked -&gt; Terminated)</a:t>
            </a:r>
          </a:p>
          <a:p>
            <a:r>
              <a:rPr lang="en-US" sz="1600"/>
              <a:t>+-- Sync (Method, Block, Static)</a:t>
            </a:r>
          </a:p>
          <a:p>
            <a:r>
              <a:rPr lang="en-US" sz="1600"/>
              <a:t>+-- Problems (Race Condition, Deadlock)</a:t>
            </a:r>
          </a:p>
          <a:p>
            <a:r>
              <a:rPr lang="en-US" sz="1600"/>
              <a:t>+-- Advanced (Thread Pool, Executor, Callable/Future)</a:t>
            </a:r>
          </a:p>
        </p:txBody>
      </p:sp>
    </p:spTree>
    <p:extLst>
      <p:ext uri="{BB962C8B-B14F-4D97-AF65-F5344CB8AC3E}">
        <p14:creationId xmlns:p14="http://schemas.microsoft.com/office/powerpoint/2010/main" val="47596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1. What is a Thread?</vt:lpstr>
      <vt:lpstr>2. What is Multithreading?</vt:lpstr>
      <vt:lpstr>3. Difference: Process vs Thread</vt:lpstr>
      <vt:lpstr>4. Thread Life Cycle</vt:lpstr>
      <vt:lpstr>5. Ways to Create a Thread</vt:lpstr>
      <vt:lpstr>6. Important Thread Methods</vt:lpstr>
      <vt:lpstr>8. Synchronization</vt:lpstr>
      <vt:lpstr>9. Race Condition</vt:lpstr>
      <vt:lpstr>10. Deadlock</vt:lpstr>
      <vt:lpstr>12. Executor Framework</vt:lpstr>
      <vt:lpstr>Summary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What is a Thread?</dc:title>
  <dc:creator>LENOVO</dc:creator>
  <cp:lastModifiedBy>LENOVO</cp:lastModifiedBy>
  <cp:revision>2</cp:revision>
  <dcterms:created xsi:type="dcterms:W3CDTF">2026-02-11T10:54:23Z</dcterms:created>
  <dcterms:modified xsi:type="dcterms:W3CDTF">2026-02-11T10:55:17Z</dcterms:modified>
</cp:coreProperties>
</file>