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7" r:id="rId6"/>
    <p:sldId id="260" r:id="rId7"/>
    <p:sldId id="284" r:id="rId8"/>
    <p:sldId id="286" r:id="rId9"/>
    <p:sldId id="261" r:id="rId10"/>
    <p:sldId id="285" r:id="rId11"/>
    <p:sldId id="288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9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JSP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JSP (Java Server Pages) is a server-side technology</a:t>
            </a:r>
          </a:p>
          <a:p>
            <a:pPr>
              <a:defRPr sz="2000"/>
            </a:pPr>
            <a:r>
              <a:t>Used to create dynamic web pages using Java</a:t>
            </a:r>
          </a:p>
          <a:p>
            <a:pPr>
              <a:defRPr sz="2000"/>
            </a:pPr>
            <a:r>
              <a:t>Built on top of Servlets</a:t>
            </a:r>
          </a:p>
          <a:p>
            <a:pPr>
              <a:defRPr sz="2000"/>
            </a:pPr>
            <a:r>
              <a:t>Part of Java Web Development (Servlet + JSP + JDBC + MVC)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JSP 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&lt;html&gt;</a:t>
            </a:r>
          </a:p>
          <a:p>
            <a:pPr>
              <a:defRPr sz="1400"/>
            </a:pPr>
            <a:r>
              <a:t>&lt;body&gt;</a:t>
            </a:r>
          </a:p>
          <a:p>
            <a:pPr>
              <a:defRPr sz="1400"/>
            </a:pPr>
            <a:r>
              <a:t>&lt;%</a:t>
            </a:r>
          </a:p>
          <a:p>
            <a:pPr>
              <a:defRPr sz="1400"/>
            </a:pPr>
            <a:r>
              <a:t>out.println("Hello Yashwanth");</a:t>
            </a:r>
          </a:p>
          <a:p>
            <a:pPr>
              <a:defRPr sz="1400"/>
            </a:pPr>
            <a:r>
              <a:t>%&gt;</a:t>
            </a:r>
          </a:p>
          <a:p>
            <a:pPr>
              <a:defRPr sz="1400"/>
            </a:pPr>
            <a:r>
              <a:t>&lt;/body&gt;</a:t>
            </a:r>
          </a:p>
          <a:p>
            <a:pPr>
              <a:defRPr sz="1400"/>
            </a:pPr>
            <a:r>
              <a:t>&lt;/html&gt;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JSP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Hard to write HTML inside Servlets</a:t>
            </a:r>
          </a:p>
          <a:p>
            <a:pPr>
              <a:defRPr sz="2000"/>
            </a:pPr>
            <a:r>
              <a:t>Hard to maintain</a:t>
            </a:r>
          </a:p>
          <a:p>
            <a:pPr>
              <a:defRPr sz="2000"/>
            </a:pPr>
            <a:r>
              <a:t>Not readable</a:t>
            </a:r>
          </a:p>
          <a:p>
            <a:pPr>
              <a:defRPr sz="2000"/>
            </a:pPr>
            <a:r>
              <a:t>JSP allows clean HTML with embedded Java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HTML Writing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PrintWriter out=response.getWriter();</a:t>
            </a:r>
          </a:p>
          <a:p>
            <a:pPr>
              <a:defRPr sz="1400"/>
            </a:pPr>
            <a:r>
              <a:t>out.println("&lt;html&gt;");</a:t>
            </a:r>
          </a:p>
          <a:p>
            <a:pPr>
              <a:defRPr sz="1400"/>
            </a:pPr>
            <a:r>
              <a:t>out.println("&lt;body&gt;");</a:t>
            </a:r>
          </a:p>
          <a:p>
            <a:pPr>
              <a:defRPr sz="1400"/>
            </a:pPr>
            <a:r>
              <a:t>out.println("&lt;h1&gt;Hello&lt;/h1&gt;");</a:t>
            </a:r>
          </a:p>
          <a:p>
            <a:pPr>
              <a:defRPr sz="1400"/>
            </a:pPr>
            <a:r>
              <a:t>out.println("&lt;/body&gt;");</a:t>
            </a:r>
          </a:p>
          <a:p>
            <a:pPr>
              <a:defRPr sz="1400"/>
            </a:pPr>
            <a:r>
              <a:t>out.println("&lt;/html&gt;");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7188D-C4BF-986E-AB99-D0666547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128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0B11-1B00-8584-921A-306C81BE0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Servlet and JSP: A Step-by-Step Guide | by Tarun Joshi | Medium">
            <a:extLst>
              <a:ext uri="{FF2B5EF4-FFF2-40B4-BE49-F238E27FC236}">
                <a16:creationId xmlns:a16="http://schemas.microsoft.com/office/drawing/2014/main" id="{7A7F233A-2E6C-9D9C-6B0E-3DF53BFCA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84" y="543319"/>
            <a:ext cx="8710367" cy="558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378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Browser sends request</a:t>
            </a:r>
          </a:p>
          <a:p>
            <a:pPr>
              <a:defRPr sz="2000"/>
            </a:pPr>
            <a:r>
              <a:t>JSP translated into Servlet</a:t>
            </a:r>
          </a:p>
          <a:p>
            <a:pPr>
              <a:defRPr sz="2000"/>
            </a:pPr>
            <a:r>
              <a:t>Servlet compiled</a:t>
            </a:r>
          </a:p>
          <a:p>
            <a:pPr>
              <a:defRPr sz="2000"/>
            </a:pPr>
            <a:r>
              <a:t>Servlet executed</a:t>
            </a:r>
          </a:p>
          <a:p>
            <a:pPr>
              <a:defRPr sz="2000"/>
            </a:pPr>
            <a:r>
              <a:t>Response returned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1ADEA-4059-2428-B430-ACD31152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784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1026" name="Picture 2" descr="JSP Architecture and Lifecycle - Naukri Code 360">
            <a:extLst>
              <a:ext uri="{FF2B5EF4-FFF2-40B4-BE49-F238E27FC236}">
                <a16:creationId xmlns:a16="http://schemas.microsoft.com/office/drawing/2014/main" id="{C7CD263A-077C-5299-65F0-D5F945CC3A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85943"/>
            <a:ext cx="8490882" cy="561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293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DE00-CA17-775B-A135-112AC6E7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899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25B0D8-880B-6EEA-F6BA-87838FA9E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525545"/>
            <a:ext cx="8441703" cy="607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6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JSP Lifecycle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jspInit()</a:t>
            </a:r>
          </a:p>
          <a:p>
            <a:pPr>
              <a:defRPr sz="2000"/>
            </a:pPr>
            <a:r>
              <a:t>_jspService()</a:t>
            </a:r>
          </a:p>
          <a:p>
            <a:pPr>
              <a:defRPr sz="2000"/>
            </a:pPr>
            <a:r>
              <a:t>jspDestroy()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17EB3-2EE8-34EF-B72F-2CAAB7634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56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2052" name="Picture 4" descr="JSP - Lifecycle">
            <a:extLst>
              <a:ext uri="{FF2B5EF4-FFF2-40B4-BE49-F238E27FC236}">
                <a16:creationId xmlns:a16="http://schemas.microsoft.com/office/drawing/2014/main" id="{F30F2470-A0B0-D141-F80A-E4E035C98B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58" y="424205"/>
            <a:ext cx="7955241" cy="581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803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526C3-1245-D752-F06E-3D2B096A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899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124" name="Picture 4" descr="JSP Life Cycle">
            <a:extLst>
              <a:ext uri="{FF2B5EF4-FFF2-40B4-BE49-F238E27FC236}">
                <a16:creationId xmlns:a16="http://schemas.microsoft.com/office/drawing/2014/main" id="{38ACB5F8-4853-A774-3702-167D51AA48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14" y="592880"/>
            <a:ext cx="8457324" cy="538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857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JSP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Directive tags</a:t>
            </a:r>
          </a:p>
          <a:p>
            <a:pPr>
              <a:defRPr sz="2000"/>
            </a:pPr>
            <a:r>
              <a:t>Scripting elements</a:t>
            </a:r>
          </a:p>
          <a:p>
            <a:pPr>
              <a:defRPr sz="2000"/>
            </a:pPr>
            <a:r>
              <a:t>Implicit objects</a:t>
            </a:r>
          </a:p>
          <a:p>
            <a:pPr>
              <a:defRPr sz="2000"/>
            </a:pPr>
            <a:r>
              <a:t>Action tags</a:t>
            </a:r>
          </a:p>
          <a:p>
            <a:pPr>
              <a:defRPr sz="2000"/>
            </a:pPr>
            <a:r>
              <a:t>Expression Language</a:t>
            </a:r>
          </a:p>
          <a:p>
            <a:pPr>
              <a:defRPr sz="2000"/>
            </a:pPr>
            <a:r>
              <a:t>JSTL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Directive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&lt;%@ page import="java.util.Date" %&gt;</a:t>
            </a:r>
          </a:p>
          <a:p>
            <a:pPr>
              <a:defRPr sz="1400"/>
            </a:pPr>
            <a:r>
              <a:t>&lt;html&gt;</a:t>
            </a:r>
          </a:p>
          <a:p>
            <a:pPr>
              <a:defRPr sz="1400"/>
            </a:pPr>
            <a:r>
              <a:t>&lt;body&gt;</a:t>
            </a:r>
          </a:p>
          <a:p>
            <a:pPr>
              <a:defRPr sz="1400"/>
            </a:pPr>
            <a:r>
              <a:t>Current date:</a:t>
            </a:r>
          </a:p>
          <a:p>
            <a:pPr>
              <a:defRPr sz="1400"/>
            </a:pPr>
            <a:r>
              <a:t>&lt;%</a:t>
            </a:r>
          </a:p>
          <a:p>
            <a:pPr>
              <a:defRPr sz="1400"/>
            </a:pPr>
            <a:r>
              <a:t>Date d=new Date();</a:t>
            </a:r>
          </a:p>
          <a:p>
            <a:pPr>
              <a:defRPr sz="1400"/>
            </a:pPr>
            <a:r>
              <a:t>out.println(d);</a:t>
            </a:r>
          </a:p>
          <a:p>
            <a:pPr>
              <a:defRPr sz="1400"/>
            </a:pPr>
            <a:r>
              <a:t>%&gt;</a:t>
            </a:r>
          </a:p>
          <a:p>
            <a:pPr>
              <a:defRPr sz="1400"/>
            </a:pPr>
            <a:r>
              <a:t>&lt;/body&gt;</a:t>
            </a:r>
          </a:p>
          <a:p>
            <a:pPr>
              <a:defRPr sz="1400"/>
            </a:pPr>
            <a:r>
              <a:t>&lt;/html&gt;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Scriptlet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&lt;html&gt;</a:t>
            </a:r>
          </a:p>
          <a:p>
            <a:pPr>
              <a:defRPr sz="1400"/>
            </a:pPr>
            <a:r>
              <a:t>&lt;body&gt;</a:t>
            </a:r>
          </a:p>
          <a:p>
            <a:pPr>
              <a:defRPr sz="1400"/>
            </a:pPr>
            <a:r>
              <a:t>&lt;%</a:t>
            </a:r>
          </a:p>
          <a:p>
            <a:pPr>
              <a:defRPr sz="1400"/>
            </a:pPr>
            <a:r>
              <a:t>int a=10;</a:t>
            </a:r>
          </a:p>
          <a:p>
            <a:pPr>
              <a:defRPr sz="1400"/>
            </a:pPr>
            <a:r>
              <a:t>int b=20;</a:t>
            </a:r>
          </a:p>
          <a:p>
            <a:pPr>
              <a:defRPr sz="1400"/>
            </a:pPr>
            <a:r>
              <a:t>out.println(a+b);</a:t>
            </a:r>
          </a:p>
          <a:p>
            <a:pPr>
              <a:defRPr sz="1400"/>
            </a:pPr>
            <a:r>
              <a:t>%&gt;</a:t>
            </a:r>
          </a:p>
          <a:p>
            <a:pPr>
              <a:defRPr sz="1400"/>
            </a:pPr>
            <a:r>
              <a:t>&lt;/body&gt;</a:t>
            </a:r>
          </a:p>
          <a:p>
            <a:pPr>
              <a:defRPr sz="1400"/>
            </a:pPr>
            <a:r>
              <a:t>&lt;/html&gt;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Expression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&lt;html&gt;</a:t>
            </a:r>
          </a:p>
          <a:p>
            <a:pPr>
              <a:defRPr sz="1400"/>
            </a:pPr>
            <a:r>
              <a:t>&lt;body&gt;</a:t>
            </a:r>
          </a:p>
          <a:p>
            <a:pPr>
              <a:defRPr sz="1400"/>
            </a:pPr>
            <a:r>
              <a:t>Sum:</a:t>
            </a:r>
          </a:p>
          <a:p>
            <a:pPr>
              <a:defRPr sz="1400"/>
            </a:pPr>
            <a:r>
              <a:t>&lt;%= 10+20 %&gt;</a:t>
            </a:r>
          </a:p>
          <a:p>
            <a:pPr>
              <a:defRPr sz="1400"/>
            </a:pPr>
            <a:r>
              <a:t>&lt;/body&gt;</a:t>
            </a:r>
          </a:p>
          <a:p>
            <a:pPr>
              <a:defRPr sz="1400"/>
            </a:pPr>
            <a:r>
              <a:t>&lt;/html&gt;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&lt;%!</a:t>
            </a:r>
          </a:p>
          <a:p>
            <a:pPr>
              <a:defRPr sz="1400"/>
            </a:pPr>
            <a:r>
              <a:t>int square(int n)</a:t>
            </a:r>
          </a:p>
          <a:p>
            <a:pPr>
              <a:defRPr sz="1400"/>
            </a:pPr>
            <a:r>
              <a:t>{</a:t>
            </a:r>
          </a:p>
          <a:p>
            <a:pPr>
              <a:defRPr sz="1400"/>
            </a:pPr>
            <a:r>
              <a:t>return n*n;</a:t>
            </a:r>
          </a:p>
          <a:p>
            <a:pPr>
              <a:defRPr sz="1400"/>
            </a:pPr>
            <a:r>
              <a:t>}</a:t>
            </a:r>
          </a:p>
          <a:p>
            <a:pPr>
              <a:defRPr sz="1400"/>
            </a:pPr>
            <a:r>
              <a:t>%&gt;</a:t>
            </a:r>
          </a:p>
          <a:p>
            <a:pPr>
              <a:defRPr sz="1400"/>
            </a:pPr>
            <a:r>
              <a:t>&lt;html&gt;</a:t>
            </a:r>
          </a:p>
          <a:p>
            <a:pPr>
              <a:defRPr sz="1400"/>
            </a:pPr>
            <a:r>
              <a:t>&lt;body&gt;</a:t>
            </a:r>
          </a:p>
          <a:p>
            <a:pPr>
              <a:defRPr sz="1400"/>
            </a:pPr>
            <a:r>
              <a:t>Square:</a:t>
            </a:r>
          </a:p>
          <a:p>
            <a:pPr>
              <a:defRPr sz="1400"/>
            </a:pPr>
            <a:r>
              <a:t>&lt;%= square(5) %&gt;</a:t>
            </a:r>
          </a:p>
          <a:p>
            <a:pPr>
              <a:defRPr sz="1400"/>
            </a:pPr>
            <a:r>
              <a:t>&lt;/body&gt;</a:t>
            </a:r>
          </a:p>
          <a:p>
            <a:pPr>
              <a:defRPr sz="1400"/>
            </a:pPr>
            <a:r>
              <a:t>&lt;/html&gt;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JSP Implicit Objects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DF6B20-D0E7-354A-9671-4742570B3C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5859088"/>
              </p:ext>
            </p:extLst>
          </p:nvPr>
        </p:nvGraphicFramePr>
        <p:xfrm>
          <a:off x="457200" y="1417637"/>
          <a:ext cx="8229600" cy="4926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67053663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622128671"/>
                    </a:ext>
                  </a:extLst>
                </a:gridCol>
              </a:tblGrid>
              <a:tr h="49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882526"/>
                  </a:ext>
                </a:extLst>
              </a:tr>
              <a:tr h="49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HttpServletRequest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83912"/>
                  </a:ext>
                </a:extLst>
              </a:tr>
              <a:tr h="49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HttpServletResponse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760601"/>
                  </a:ext>
                </a:extLst>
              </a:tr>
              <a:tr h="49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JspWriter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12891"/>
                  </a:ext>
                </a:extLst>
              </a:tr>
              <a:tr h="49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HttpSession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79571"/>
                  </a:ext>
                </a:extLst>
              </a:tr>
              <a:tr h="49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ServletContext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639769"/>
                  </a:ext>
                </a:extLst>
              </a:tr>
              <a:tr h="49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ServletConfig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079174"/>
                  </a:ext>
                </a:extLst>
              </a:tr>
              <a:tr h="49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pageContext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PageContext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558814"/>
                  </a:ext>
                </a:extLst>
              </a:tr>
              <a:tr h="49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638468"/>
                  </a:ext>
                </a:extLst>
              </a:tr>
              <a:tr h="492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Throwable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801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Object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&lt;html&gt;</a:t>
            </a:r>
          </a:p>
          <a:p>
            <a:pPr>
              <a:defRPr sz="1400"/>
            </a:pPr>
            <a:r>
              <a:t>&lt;body&gt;</a:t>
            </a:r>
          </a:p>
          <a:p>
            <a:pPr>
              <a:defRPr sz="1400"/>
            </a:pPr>
            <a:r>
              <a:t>Request method:</a:t>
            </a:r>
          </a:p>
          <a:p>
            <a:pPr>
              <a:defRPr sz="1400"/>
            </a:pPr>
            <a:r>
              <a:t>&lt;%= request.getMethod() %&gt;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Session id:</a:t>
            </a:r>
          </a:p>
          <a:p>
            <a:pPr>
              <a:defRPr sz="1400"/>
            </a:pPr>
            <a:r>
              <a:t>&lt;%= session.getId() %&gt;</a:t>
            </a:r>
          </a:p>
          <a:p>
            <a:pPr>
              <a:defRPr sz="1400"/>
            </a:pPr>
            <a:r>
              <a:t>&lt;/body&gt;</a:t>
            </a:r>
          </a:p>
          <a:p>
            <a:pPr>
              <a:defRPr sz="1400"/>
            </a:pPr>
            <a:r>
              <a:t>&lt;/html&gt;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JSP Action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jsp:include</a:t>
            </a:r>
          </a:p>
          <a:p>
            <a:pPr>
              <a:defRPr sz="2000"/>
            </a:pPr>
            <a:r>
              <a:t>jsp:forward</a:t>
            </a:r>
          </a:p>
          <a:p>
            <a:pPr>
              <a:defRPr sz="2000"/>
            </a:pPr>
            <a:r>
              <a:t>jsp:useBean</a:t>
            </a:r>
          </a:p>
          <a:p>
            <a:pPr>
              <a:defRPr sz="2000"/>
            </a:pPr>
            <a:r>
              <a:t>jsp:setProperty</a:t>
            </a:r>
          </a:p>
          <a:p>
            <a:pPr>
              <a:defRPr sz="2000"/>
            </a:pPr>
            <a:r>
              <a:t>jsp:getProperty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jsp:include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header.jsp:</a:t>
            </a:r>
          </a:p>
          <a:p>
            <a:pPr>
              <a:defRPr sz="1400"/>
            </a:pPr>
            <a:r>
              <a:t>&lt;h2&gt;Header&lt;/h2&gt;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main.jsp:</a:t>
            </a:r>
          </a:p>
          <a:p>
            <a:pPr>
              <a:defRPr sz="1400"/>
            </a:pPr>
            <a:r>
              <a:t>&lt;html&gt;</a:t>
            </a:r>
          </a:p>
          <a:p>
            <a:pPr>
              <a:defRPr sz="1400"/>
            </a:pPr>
            <a:r>
              <a:t>&lt;body&gt;</a:t>
            </a:r>
          </a:p>
          <a:p>
            <a:pPr>
              <a:defRPr sz="1400"/>
            </a:pPr>
            <a:r>
              <a:t>&lt;jsp:include page="header.jsp"/&gt;</a:t>
            </a:r>
          </a:p>
          <a:p>
            <a:pPr>
              <a:defRPr sz="1400"/>
            </a:pPr>
            <a:r>
              <a:t>Content here</a:t>
            </a:r>
          </a:p>
          <a:p>
            <a:pPr>
              <a:defRPr sz="1400"/>
            </a:pPr>
            <a:r>
              <a:t>&lt;/body&gt;</a:t>
            </a:r>
          </a:p>
          <a:p>
            <a:pPr>
              <a:defRPr sz="1400"/>
            </a:pPr>
            <a:r>
              <a:t>&lt;/html&gt;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JSP vs Servlet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JSP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Servlet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HTML centric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Java centric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Easy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Hard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Logic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Converted to servlet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Already servlet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MVC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JSP – View</a:t>
            </a:r>
          </a:p>
          <a:p>
            <a:pPr>
              <a:defRPr sz="2000"/>
            </a:pPr>
            <a:r>
              <a:t>Servlet – Controller</a:t>
            </a:r>
          </a:p>
          <a:p>
            <a:pPr>
              <a:defRPr sz="2000"/>
            </a:pPr>
            <a:r>
              <a:t>Java class – Model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5A82-90E0-9EE8-007A-274223F8D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8194" name="Picture 2" descr="MVC Architecture with JSP example | by Liam Nivvas | Medium">
            <a:extLst>
              <a:ext uri="{FF2B5EF4-FFF2-40B4-BE49-F238E27FC236}">
                <a16:creationId xmlns:a16="http://schemas.microsoft.com/office/drawing/2014/main" id="{711A92FC-200E-3FCB-EB0F-CDEFF23C4C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58" y="425466"/>
            <a:ext cx="7763684" cy="615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151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Class Employee.java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public class Employee</a:t>
            </a:r>
          </a:p>
          <a:p>
            <a:pPr>
              <a:defRPr sz="1400"/>
            </a:pPr>
            <a:r>
              <a:t>{</a:t>
            </a:r>
          </a:p>
          <a:p>
            <a:pPr>
              <a:defRPr sz="1400"/>
            </a:pPr>
            <a:r>
              <a:t>String name="Yashwanth";</a:t>
            </a:r>
          </a:p>
          <a:p>
            <a:pPr>
              <a:defRPr sz="1400"/>
            </a:pPr>
            <a:r>
              <a:t>public String getName()</a:t>
            </a:r>
          </a:p>
          <a:p>
            <a:pPr>
              <a:defRPr sz="1400"/>
            </a:pPr>
            <a:r>
              <a:t>{</a:t>
            </a:r>
          </a:p>
          <a:p>
            <a:pPr>
              <a:defRPr sz="1400"/>
            </a:pPr>
            <a:r>
              <a:t>return name;</a:t>
            </a:r>
          </a:p>
          <a:p>
            <a:pPr>
              <a:defRPr sz="1400"/>
            </a:pPr>
            <a:r>
              <a:t>}</a:t>
            </a:r>
          </a:p>
          <a:p>
            <a:pPr>
              <a:defRPr sz="1400"/>
            </a:pPr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Controller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Employee emp=new Employee();</a:t>
            </a:r>
          </a:p>
          <a:p>
            <a:pPr>
              <a:defRPr sz="1400"/>
            </a:pPr>
            <a:r>
              <a:t>req.setAttribute("emp",emp);</a:t>
            </a:r>
          </a:p>
          <a:p>
            <a:pPr>
              <a:defRPr sz="1400"/>
            </a:pPr>
            <a:r>
              <a:t>RequestDispatcher rd=</a:t>
            </a:r>
          </a:p>
          <a:p>
            <a:pPr>
              <a:defRPr sz="1400"/>
            </a:pPr>
            <a:r>
              <a:t>req.getRequestDispatcher("employee.jsp");</a:t>
            </a:r>
          </a:p>
          <a:p>
            <a:pPr>
              <a:defRPr sz="1400"/>
            </a:pPr>
            <a:r>
              <a:t>rd.forward(req,res);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JSP View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Employee e=(Employee)</a:t>
            </a:r>
          </a:p>
          <a:p>
            <a:pPr>
              <a:defRPr sz="1400"/>
            </a:pPr>
            <a:r>
              <a:t>request.getAttribute("emp");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Employee name:</a:t>
            </a:r>
          </a:p>
          <a:p>
            <a:pPr>
              <a:defRPr sz="1400"/>
            </a:pPr>
            <a:r>
              <a:t>&lt;%= e.getName() %&gt;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Easy to write HTML</a:t>
            </a:r>
          </a:p>
          <a:p>
            <a:pPr>
              <a:defRPr sz="2000"/>
            </a:pPr>
            <a:r>
              <a:t>Fast development</a:t>
            </a:r>
          </a:p>
          <a:p>
            <a:pPr>
              <a:defRPr sz="2000"/>
            </a:pPr>
            <a:r>
              <a:t>Automatic servlet conversion</a:t>
            </a:r>
          </a:p>
          <a:p>
            <a:pPr>
              <a:defRPr sz="2000"/>
            </a:pPr>
            <a:r>
              <a:t>Reusable components</a:t>
            </a:r>
          </a:p>
          <a:p>
            <a:pPr>
              <a:defRPr sz="2000"/>
            </a:pPr>
            <a:r>
              <a:t>MVC support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Mixing Java + HTML bad practice</a:t>
            </a:r>
          </a:p>
          <a:p>
            <a:pPr>
              <a:defRPr sz="2000"/>
            </a:pPr>
            <a:r>
              <a:t>Hard debugging</a:t>
            </a:r>
          </a:p>
          <a:p>
            <a:pPr>
              <a:defRPr sz="2000"/>
            </a:pPr>
            <a:r>
              <a:t>Legacy technology</a:t>
            </a:r>
          </a:p>
          <a:p>
            <a:pPr>
              <a:defRPr sz="2000"/>
            </a:pPr>
            <a:r>
              <a:t>Replaced by Thymeleaf/React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JSP 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What happens when JSP executes?</a:t>
            </a:r>
          </a:p>
          <a:p>
            <a:pPr>
              <a:defRPr sz="2000"/>
            </a:pPr>
            <a:r>
              <a:t>JSP converts into servlet</a:t>
            </a:r>
          </a:p>
          <a:p>
            <a:pPr>
              <a:defRPr sz="2000"/>
            </a:pPr>
            <a:r>
              <a:t>Include vs jsp include</a:t>
            </a:r>
          </a:p>
          <a:p>
            <a:pPr>
              <a:defRPr sz="2000"/>
            </a:pPr>
            <a:r>
              <a:t>Forward vs sendRedirect</a:t>
            </a:r>
          </a:p>
          <a:p>
            <a:pPr>
              <a:defRPr sz="2000"/>
            </a:pPr>
            <a:r>
              <a:t>Scriptlet vs Expression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JSP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&lt;html&gt;</a:t>
            </a:r>
          </a:p>
          <a:p>
            <a:pPr>
              <a:defRPr sz="1400"/>
            </a:pPr>
            <a:r>
              <a:t>&lt;body&gt;</a:t>
            </a:r>
          </a:p>
          <a:p>
            <a:pPr>
              <a:defRPr sz="1400"/>
            </a:pPr>
            <a:r>
              <a:t>&lt;form action="LoginServlet"&gt;</a:t>
            </a:r>
          </a:p>
          <a:p>
            <a:pPr>
              <a:defRPr sz="1400"/>
            </a:pPr>
            <a:r>
              <a:t>Username:</a:t>
            </a:r>
          </a:p>
          <a:p>
            <a:pPr>
              <a:defRPr sz="1400"/>
            </a:pPr>
            <a:r>
              <a:t>&lt;input type="text" name="user"&gt;</a:t>
            </a:r>
          </a:p>
          <a:p>
            <a:pPr>
              <a:defRPr sz="1400"/>
            </a:pPr>
            <a:r>
              <a:t>Password:</a:t>
            </a:r>
          </a:p>
          <a:p>
            <a:pPr>
              <a:defRPr sz="1400"/>
            </a:pPr>
            <a:r>
              <a:t>&lt;input type="password" name="pass"&gt;</a:t>
            </a:r>
          </a:p>
          <a:p>
            <a:pPr>
              <a:defRPr sz="1400"/>
            </a:pPr>
            <a:r>
              <a:t>&lt;input type="submit"&gt;</a:t>
            </a:r>
          </a:p>
          <a:p>
            <a:pPr>
              <a:defRPr sz="1400"/>
            </a:pPr>
            <a:r>
              <a:t>&lt;/form&gt;</a:t>
            </a:r>
          </a:p>
          <a:p>
            <a:pPr>
              <a:defRPr sz="1400"/>
            </a:pPr>
            <a:r>
              <a:t>&lt;/body&gt;</a:t>
            </a:r>
          </a:p>
          <a:p>
            <a:pPr>
              <a:defRPr sz="1400"/>
            </a:pPr>
            <a:r>
              <a:t>&lt;/html&gt;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Servlet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 dirty="0"/>
              <a:t>String u=</a:t>
            </a:r>
            <a:r>
              <a:rPr dirty="0" err="1"/>
              <a:t>req.getParameter</a:t>
            </a:r>
            <a:r>
              <a:rPr dirty="0"/>
              <a:t>("user");</a:t>
            </a:r>
          </a:p>
          <a:p>
            <a:pPr>
              <a:defRPr sz="1400"/>
            </a:pPr>
            <a:r>
              <a:rPr dirty="0"/>
              <a:t>String p=</a:t>
            </a:r>
            <a:r>
              <a:rPr dirty="0" err="1"/>
              <a:t>req.getParameter</a:t>
            </a:r>
            <a:r>
              <a:rPr dirty="0"/>
              <a:t>("pass");</a:t>
            </a:r>
          </a:p>
          <a:p>
            <a:pPr>
              <a:defRPr sz="1400"/>
            </a:pPr>
            <a:endParaRPr dirty="0"/>
          </a:p>
          <a:p>
            <a:pPr>
              <a:defRPr sz="1400"/>
            </a:pPr>
            <a:r>
              <a:rPr dirty="0"/>
              <a:t>if(</a:t>
            </a:r>
            <a:r>
              <a:rPr dirty="0" err="1"/>
              <a:t>u.equals</a:t>
            </a:r>
            <a:r>
              <a:rPr dirty="0"/>
              <a:t>("admin") &amp;&amp; </a:t>
            </a:r>
            <a:r>
              <a:rPr dirty="0" err="1"/>
              <a:t>p.equals</a:t>
            </a:r>
            <a:r>
              <a:rPr dirty="0"/>
              <a:t>("123"))</a:t>
            </a:r>
          </a:p>
          <a:p>
            <a:pPr>
              <a:defRPr sz="1400"/>
            </a:pPr>
            <a:r>
              <a:rPr dirty="0"/>
              <a:t>{</a:t>
            </a:r>
          </a:p>
          <a:p>
            <a:pPr>
              <a:defRPr sz="1400"/>
            </a:pPr>
            <a:r>
              <a:rPr dirty="0"/>
              <a:t>forward </a:t>
            </a:r>
            <a:r>
              <a:rPr dirty="0" err="1"/>
              <a:t>success.jsp</a:t>
            </a:r>
            <a:r>
              <a:rPr dirty="0"/>
              <a:t>;</a:t>
            </a:r>
          </a:p>
          <a:p>
            <a:pPr>
              <a:defRPr sz="1400"/>
            </a:pPr>
            <a:r>
              <a:rPr dirty="0"/>
              <a:t>}</a:t>
            </a:r>
          </a:p>
          <a:p>
            <a:pPr>
              <a:defRPr sz="1400"/>
            </a:pPr>
            <a:r>
              <a:rPr dirty="0"/>
              <a:t>else</a:t>
            </a:r>
          </a:p>
          <a:p>
            <a:pPr>
              <a:defRPr sz="1400"/>
            </a:pPr>
            <a:r>
              <a:rPr dirty="0"/>
              <a:t>{</a:t>
            </a:r>
          </a:p>
          <a:p>
            <a:pPr>
              <a:defRPr sz="1400"/>
            </a:pPr>
            <a:r>
              <a:rPr dirty="0"/>
              <a:t>forward </a:t>
            </a:r>
            <a:r>
              <a:rPr dirty="0" err="1"/>
              <a:t>error.jsp</a:t>
            </a:r>
            <a:r>
              <a:rPr dirty="0"/>
              <a:t>;</a:t>
            </a:r>
          </a:p>
          <a:p>
            <a:pPr>
              <a:defRPr sz="14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success.jsp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&lt;h1&gt;Login success&lt;/h1&gt;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error.jsp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&lt;h1&gt;Login failed&lt;/h1&gt;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JSP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rPr dirty="0"/>
              <a:t>Avoid </a:t>
            </a:r>
            <a:r>
              <a:rPr dirty="0" err="1"/>
              <a:t>Scriptlets</a:t>
            </a:r>
            <a:r>
              <a:rPr dirty="0"/>
              <a:t> &lt;% %&gt;</a:t>
            </a:r>
          </a:p>
          <a:p>
            <a:r>
              <a:rPr sz="1600" dirty="0"/>
              <a:t>Use EL</a:t>
            </a:r>
            <a:r>
              <a:rPr lang="en-US" sz="1600" dirty="0"/>
              <a:t>(Expression Language)</a:t>
            </a:r>
            <a:r>
              <a:rPr sz="1600" dirty="0"/>
              <a:t> </a:t>
            </a:r>
            <a:endParaRPr lang="en-US" sz="1600" dirty="0"/>
          </a:p>
          <a:p>
            <a:r>
              <a:rPr lang="en-US" sz="1600" b="1" dirty="0"/>
              <a:t>Instead of:</a:t>
            </a:r>
          </a:p>
          <a:p>
            <a:r>
              <a:rPr lang="en-US" sz="1600" dirty="0"/>
              <a:t>&lt;%= </a:t>
            </a:r>
            <a:r>
              <a:rPr lang="en-US" sz="1600" dirty="0" err="1"/>
              <a:t>employee.getName</a:t>
            </a:r>
            <a:r>
              <a:rPr lang="en-US" sz="1600" dirty="0"/>
              <a:t>() %&gt;</a:t>
            </a:r>
          </a:p>
          <a:p>
            <a:r>
              <a:rPr lang="en-US" sz="1600" b="1" dirty="0"/>
              <a:t>We write:</a:t>
            </a:r>
          </a:p>
          <a:p>
            <a:r>
              <a:rPr lang="en-US" sz="1600" dirty="0"/>
              <a:t>${employee.name}</a:t>
            </a:r>
          </a:p>
          <a:p>
            <a:pPr>
              <a:defRPr sz="2000"/>
            </a:pPr>
            <a:r>
              <a:rPr dirty="0"/>
              <a:t>Use JSTL</a:t>
            </a:r>
            <a:r>
              <a:rPr lang="en-US" dirty="0"/>
              <a:t>(JSP Standard Tag Library)</a:t>
            </a:r>
          </a:p>
          <a:p>
            <a:r>
              <a:rPr lang="en-US" sz="1500" b="1" dirty="0"/>
              <a:t>Instead of Java:</a:t>
            </a:r>
          </a:p>
          <a:p>
            <a:r>
              <a:rPr lang="en-US" sz="1500" dirty="0"/>
              <a:t>&lt;%</a:t>
            </a:r>
            <a:br>
              <a:rPr lang="en-US" sz="1500" dirty="0"/>
            </a:br>
            <a:r>
              <a:rPr lang="en-US" sz="1500" dirty="0"/>
              <a:t>if(a&gt;b)</a:t>
            </a:r>
            <a:br>
              <a:rPr lang="en-US" sz="1500" dirty="0"/>
            </a:br>
            <a:r>
              <a:rPr lang="en-US" sz="1500" dirty="0" err="1"/>
              <a:t>out.println</a:t>
            </a:r>
            <a:r>
              <a:rPr lang="en-US" sz="1500" dirty="0"/>
              <a:t>("Greater");</a:t>
            </a:r>
            <a:br>
              <a:rPr lang="en-US" sz="1500" dirty="0"/>
            </a:br>
            <a:r>
              <a:rPr lang="en-US" sz="1500" dirty="0"/>
              <a:t>%&gt;</a:t>
            </a:r>
          </a:p>
          <a:p>
            <a:r>
              <a:rPr lang="en-US" sz="1500" b="1" dirty="0"/>
              <a:t>We use JSTL:</a:t>
            </a:r>
          </a:p>
          <a:p>
            <a:r>
              <a:rPr lang="en-US" sz="1500" dirty="0"/>
              <a:t>&lt;</a:t>
            </a:r>
            <a:r>
              <a:rPr lang="en-US" sz="1500" dirty="0" err="1"/>
              <a:t>c:if</a:t>
            </a:r>
            <a:r>
              <a:rPr lang="en-US" sz="1500" dirty="0"/>
              <a:t> test="${a&gt;b}"&gt;</a:t>
            </a:r>
            <a:br>
              <a:rPr lang="en-US" sz="1500" dirty="0"/>
            </a:br>
            <a:r>
              <a:rPr lang="en-US" sz="1500" dirty="0"/>
              <a:t>Greater</a:t>
            </a:r>
            <a:br>
              <a:rPr lang="en-US" sz="1500" dirty="0"/>
            </a:br>
            <a:r>
              <a:rPr lang="en-US" sz="1500" dirty="0"/>
              <a:t>&lt;/</a:t>
            </a:r>
            <a:r>
              <a:rPr lang="en-US" sz="1500" dirty="0" err="1"/>
              <a:t>c:if</a:t>
            </a:r>
            <a:r>
              <a:rPr lang="en-US" sz="1500" dirty="0"/>
              <a:t>&gt;</a:t>
            </a:r>
            <a:endParaRPr dirty="0"/>
          </a:p>
          <a:p>
            <a:pPr>
              <a:defRPr sz="2000"/>
            </a:pPr>
            <a:r>
              <a:rPr dirty="0"/>
              <a:t>Follow MVC pattern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796</Words>
  <Application>Microsoft Office PowerPoint</Application>
  <PresentationFormat>On-screen Show (4:3)</PresentationFormat>
  <Paragraphs>225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JSP Introduction</vt:lpstr>
      <vt:lpstr>JSP Example Program</vt:lpstr>
      <vt:lpstr>Why JSP</vt:lpstr>
      <vt:lpstr>Servlet HTML Writing Problem</vt:lpstr>
      <vt:lpstr>PowerPoint Presentation</vt:lpstr>
      <vt:lpstr>JSP Architecture</vt:lpstr>
      <vt:lpstr>PowerPoint Presentation</vt:lpstr>
      <vt:lpstr>PowerPoint Presentation</vt:lpstr>
      <vt:lpstr>JSP Lifecycle Methods</vt:lpstr>
      <vt:lpstr>PowerPoint Presentation</vt:lpstr>
      <vt:lpstr>PowerPoint Presentation</vt:lpstr>
      <vt:lpstr>JSP Elements</vt:lpstr>
      <vt:lpstr>Page Directive Example</vt:lpstr>
      <vt:lpstr>Scriptlet Example</vt:lpstr>
      <vt:lpstr>Expression Example</vt:lpstr>
      <vt:lpstr>Declaration Example</vt:lpstr>
      <vt:lpstr>JSP Implicit Objects</vt:lpstr>
      <vt:lpstr>Implicit Object Example</vt:lpstr>
      <vt:lpstr>JSP Action Tags</vt:lpstr>
      <vt:lpstr>jsp:include Example</vt:lpstr>
      <vt:lpstr>JSP vs Servlet</vt:lpstr>
      <vt:lpstr>MVC Pattern</vt:lpstr>
      <vt:lpstr>PowerPoint Presentation</vt:lpstr>
      <vt:lpstr>Model Class Employee.java</vt:lpstr>
      <vt:lpstr>Servlet Controller Example</vt:lpstr>
      <vt:lpstr>JSP View Example</vt:lpstr>
      <vt:lpstr>Advantages</vt:lpstr>
      <vt:lpstr>Disadvantages</vt:lpstr>
      <vt:lpstr>JSP Interview Questions</vt:lpstr>
      <vt:lpstr>Login JSP Example</vt:lpstr>
      <vt:lpstr>Login Servlet Example</vt:lpstr>
      <vt:lpstr>success.jsp</vt:lpstr>
      <vt:lpstr>error.jsp</vt:lpstr>
      <vt:lpstr>Modern JSP 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Rohith Babu Mamidi</cp:lastModifiedBy>
  <cp:revision>9</cp:revision>
  <dcterms:created xsi:type="dcterms:W3CDTF">2013-01-27T09:14:16Z</dcterms:created>
  <dcterms:modified xsi:type="dcterms:W3CDTF">2026-03-12T14:58:18Z</dcterms:modified>
  <cp:category/>
</cp:coreProperties>
</file>